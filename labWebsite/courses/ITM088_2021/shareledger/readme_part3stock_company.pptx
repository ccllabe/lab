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2"/>
    <p:sldId id="267" r:id="rId3"/>
    <p:sldId id="268" r:id="rId4"/>
    <p:sldId id="258" r:id="rId5"/>
    <p:sldId id="259" r:id="rId6"/>
    <p:sldId id="260" r:id="rId7"/>
    <p:sldId id="261" r:id="rId8"/>
    <p:sldId id="269" r:id="rId9"/>
    <p:sldId id="264" r:id="rId10"/>
    <p:sldId id="263" r:id="rId11"/>
    <p:sldId id="262" r:id="rId1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93"/>
  </p:normalViewPr>
  <p:slideViewPr>
    <p:cSldViewPr snapToGrid="0">
      <p:cViewPr varScale="1">
        <p:scale>
          <a:sx n="82" d="100"/>
          <a:sy n="82" d="100"/>
        </p:scale>
        <p:origin x="462"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i-Ching Lee" userId="7309231c4353d1c0" providerId="LiveId" clId="{E513C665-6BA1-45F5-ADBF-CFC35AC9C4A3}"/>
    <pc:docChg chg="undo custSel addSld modSld">
      <pc:chgData name="Chi-Ching Lee" userId="7309231c4353d1c0" providerId="LiveId" clId="{E513C665-6BA1-45F5-ADBF-CFC35AC9C4A3}" dt="2024-03-21T14:34:42.779" v="196" actId="20577"/>
      <pc:docMkLst>
        <pc:docMk/>
      </pc:docMkLst>
      <pc:sldChg chg="modSp mod">
        <pc:chgData name="Chi-Ching Lee" userId="7309231c4353d1c0" providerId="LiveId" clId="{E513C665-6BA1-45F5-ADBF-CFC35AC9C4A3}" dt="2024-03-21T14:34:42.779" v="196" actId="20577"/>
        <pc:sldMkLst>
          <pc:docMk/>
          <pc:sldMk cId="3653870438" sldId="262"/>
        </pc:sldMkLst>
        <pc:spChg chg="mod">
          <ac:chgData name="Chi-Ching Lee" userId="7309231c4353d1c0" providerId="LiveId" clId="{E513C665-6BA1-45F5-ADBF-CFC35AC9C4A3}" dt="2024-03-21T14:19:51.138" v="139" actId="20577"/>
          <ac:spMkLst>
            <pc:docMk/>
            <pc:sldMk cId="3653870438" sldId="262"/>
            <ac:spMk id="2" creationId="{448266A3-3753-4419-4B98-39EDD2ACD78E}"/>
          </ac:spMkLst>
        </pc:spChg>
        <pc:spChg chg="mod">
          <ac:chgData name="Chi-Ching Lee" userId="7309231c4353d1c0" providerId="LiveId" clId="{E513C665-6BA1-45F5-ADBF-CFC35AC9C4A3}" dt="2024-03-21T14:34:42.779" v="196" actId="20577"/>
          <ac:spMkLst>
            <pc:docMk/>
            <pc:sldMk cId="3653870438" sldId="262"/>
            <ac:spMk id="3" creationId="{402C8C45-C9EC-9310-1E5E-51B78757DE68}"/>
          </ac:spMkLst>
        </pc:spChg>
      </pc:sldChg>
      <pc:sldChg chg="new">
        <pc:chgData name="Chi-Ching Lee" userId="7309231c4353d1c0" providerId="LiveId" clId="{E513C665-6BA1-45F5-ADBF-CFC35AC9C4A3}" dt="2024-03-21T14:18:01.091" v="0" actId="680"/>
        <pc:sldMkLst>
          <pc:docMk/>
          <pc:sldMk cId="2134386837" sldId="268"/>
        </pc:sldMkLst>
      </pc:sldChg>
      <pc:sldChg chg="addSp delSp modSp new mod">
        <pc:chgData name="Chi-Ching Lee" userId="7309231c4353d1c0" providerId="LiveId" clId="{E513C665-6BA1-45F5-ADBF-CFC35AC9C4A3}" dt="2024-03-21T14:29:30.411" v="146" actId="1076"/>
        <pc:sldMkLst>
          <pc:docMk/>
          <pc:sldMk cId="1092089811" sldId="269"/>
        </pc:sldMkLst>
        <pc:spChg chg="del">
          <ac:chgData name="Chi-Ching Lee" userId="7309231c4353d1c0" providerId="LiveId" clId="{E513C665-6BA1-45F5-ADBF-CFC35AC9C4A3}" dt="2024-03-21T14:28:43.841" v="144" actId="478"/>
          <ac:spMkLst>
            <pc:docMk/>
            <pc:sldMk cId="1092089811" sldId="269"/>
            <ac:spMk id="2" creationId="{2A2ABDD1-402D-4C6E-AF4B-848232D94CF3}"/>
          </ac:spMkLst>
        </pc:spChg>
        <pc:spChg chg="del">
          <ac:chgData name="Chi-Ching Lee" userId="7309231c4353d1c0" providerId="LiveId" clId="{E513C665-6BA1-45F5-ADBF-CFC35AC9C4A3}" dt="2024-03-21T14:28:37.247" v="141" actId="22"/>
          <ac:spMkLst>
            <pc:docMk/>
            <pc:sldMk cId="1092089811" sldId="269"/>
            <ac:spMk id="3" creationId="{07A56C02-37ED-43AC-A38F-F01A891A8099}"/>
          </ac:spMkLst>
        </pc:spChg>
        <pc:spChg chg="add mod">
          <ac:chgData name="Chi-Ching Lee" userId="7309231c4353d1c0" providerId="LiveId" clId="{E513C665-6BA1-45F5-ADBF-CFC35AC9C4A3}" dt="2024-03-21T14:29:28.372" v="145"/>
          <ac:spMkLst>
            <pc:docMk/>
            <pc:sldMk cId="1092089811" sldId="269"/>
            <ac:spMk id="6" creationId="{B550FB83-E9E9-426A-9B54-F21C461FA4FC}"/>
          </ac:spMkLst>
        </pc:spChg>
        <pc:picChg chg="add mod ord">
          <ac:chgData name="Chi-Ching Lee" userId="7309231c4353d1c0" providerId="LiveId" clId="{E513C665-6BA1-45F5-ADBF-CFC35AC9C4A3}" dt="2024-03-21T14:29:30.411" v="146" actId="1076"/>
          <ac:picMkLst>
            <pc:docMk/>
            <pc:sldMk cId="1092089811" sldId="269"/>
            <ac:picMk id="5" creationId="{40B936EE-DA38-471B-A695-C931411E55D3}"/>
          </ac:picMkLst>
        </pc:picChg>
      </pc:sldChg>
    </pc:docChg>
  </pc:docChgLst>
  <pc:docChgLst>
    <pc:chgData name="Chi-Ching Lee" userId="7309231c4353d1c0" providerId="LiveId" clId="{F17728FF-8DDA-1948-ABB1-81B7A7722086}"/>
    <pc:docChg chg="custSel modSld">
      <pc:chgData name="Chi-Ching Lee" userId="7309231c4353d1c0" providerId="LiveId" clId="{F17728FF-8DDA-1948-ABB1-81B7A7722086}" dt="2024-03-21T05:44:17.461" v="435" actId="1076"/>
      <pc:docMkLst>
        <pc:docMk/>
      </pc:docMkLst>
      <pc:sldChg chg="addSp delSp modSp mod">
        <pc:chgData name="Chi-Ching Lee" userId="7309231c4353d1c0" providerId="LiveId" clId="{F17728FF-8DDA-1948-ABB1-81B7A7722086}" dt="2024-03-21T05:44:17.461" v="435" actId="1076"/>
        <pc:sldMkLst>
          <pc:docMk/>
          <pc:sldMk cId="2390365902" sldId="259"/>
        </pc:sldMkLst>
        <pc:spChg chg="add del mod">
          <ac:chgData name="Chi-Ching Lee" userId="7309231c4353d1c0" providerId="LiveId" clId="{F17728FF-8DDA-1948-ABB1-81B7A7722086}" dt="2024-03-21T05:40:37.598" v="228" actId="21"/>
          <ac:spMkLst>
            <pc:docMk/>
            <pc:sldMk cId="2390365902" sldId="259"/>
            <ac:spMk id="2" creationId="{D64774DA-ECA1-8CC6-E60A-CAC5DC40E208}"/>
          </ac:spMkLst>
        </pc:spChg>
        <pc:spChg chg="add mod">
          <ac:chgData name="Chi-Ching Lee" userId="7309231c4353d1c0" providerId="LiveId" clId="{F17728FF-8DDA-1948-ABB1-81B7A7722086}" dt="2024-03-21T05:44:17.461" v="435" actId="1076"/>
          <ac:spMkLst>
            <pc:docMk/>
            <pc:sldMk cId="2390365902" sldId="259"/>
            <ac:spMk id="17" creationId="{F318D34F-A107-EC93-7120-2001EAC9DE21}"/>
          </ac:spMkLst>
        </pc:spChg>
        <pc:spChg chg="mod">
          <ac:chgData name="Chi-Ching Lee" userId="7309231c4353d1c0" providerId="LiveId" clId="{F17728FF-8DDA-1948-ABB1-81B7A7722086}" dt="2024-03-21T05:43:23.761" v="405" actId="1036"/>
          <ac:spMkLst>
            <pc:docMk/>
            <pc:sldMk cId="2390365902" sldId="259"/>
            <ac:spMk id="60" creationId="{38F56317-58D2-F555-4F5D-F72CF3397BEC}"/>
          </ac:spMkLst>
        </pc:spChg>
        <pc:spChg chg="del mod">
          <ac:chgData name="Chi-Ching Lee" userId="7309231c4353d1c0" providerId="LiveId" clId="{F17728FF-8DDA-1948-ABB1-81B7A7722086}" dt="2024-03-21T05:42:19.372" v="368" actId="478"/>
          <ac:spMkLst>
            <pc:docMk/>
            <pc:sldMk cId="2390365902" sldId="259"/>
            <ac:spMk id="61" creationId="{9966839A-9813-1D09-A80D-31C7BAE4BF07}"/>
          </ac:spMkLst>
        </pc:spChg>
      </pc:sldChg>
      <pc:sldChg chg="addSp delSp modSp mod">
        <pc:chgData name="Chi-Ching Lee" userId="7309231c4353d1c0" providerId="LiveId" clId="{F17728FF-8DDA-1948-ABB1-81B7A7722086}" dt="2024-03-21T05:40:46.717" v="230" actId="21"/>
        <pc:sldMkLst>
          <pc:docMk/>
          <pc:sldMk cId="1972329431" sldId="260"/>
        </pc:sldMkLst>
        <pc:spChg chg="add del mod">
          <ac:chgData name="Chi-Ching Lee" userId="7309231c4353d1c0" providerId="LiveId" clId="{F17728FF-8DDA-1948-ABB1-81B7A7722086}" dt="2024-03-21T05:40:46.717" v="230" actId="21"/>
          <ac:spMkLst>
            <pc:docMk/>
            <pc:sldMk cId="1972329431" sldId="260"/>
            <ac:spMk id="3" creationId="{0E0101CB-2C14-AAA6-8D48-49410294FACA}"/>
          </ac:spMkLst>
        </pc:spChg>
      </pc:sldChg>
      <pc:sldChg chg="modSp mod">
        <pc:chgData name="Chi-Ching Lee" userId="7309231c4353d1c0" providerId="LiveId" clId="{F17728FF-8DDA-1948-ABB1-81B7A7722086}" dt="2024-03-20T12:47:04.979" v="66" actId="20577"/>
        <pc:sldMkLst>
          <pc:docMk/>
          <pc:sldMk cId="3653870438" sldId="262"/>
        </pc:sldMkLst>
        <pc:spChg chg="mod">
          <ac:chgData name="Chi-Ching Lee" userId="7309231c4353d1c0" providerId="LiveId" clId="{F17728FF-8DDA-1948-ABB1-81B7A7722086}" dt="2024-03-20T12:47:04.979" v="66" actId="20577"/>
          <ac:spMkLst>
            <pc:docMk/>
            <pc:sldMk cId="3653870438" sldId="262"/>
            <ac:spMk id="3" creationId="{402C8C45-C9EC-9310-1E5E-51B78757DE6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E1E59AF-413B-F7DE-BCB9-A870A74B032C}"/>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22F74D92-A32F-1815-3816-0CCA20DC1B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F6D04BE5-7DFA-B521-814F-E545E677727E}"/>
              </a:ext>
            </a:extLst>
          </p:cNvPr>
          <p:cNvSpPr>
            <a:spLocks noGrp="1"/>
          </p:cNvSpPr>
          <p:nvPr>
            <p:ph type="dt" sz="half" idx="10"/>
          </p:nvPr>
        </p:nvSpPr>
        <p:spPr/>
        <p:txBody>
          <a:bodyPr/>
          <a:lstStyle/>
          <a:p>
            <a:fld id="{730A81C7-2B5D-BB46-AA28-631DD74A13CA}" type="datetimeFigureOut">
              <a:rPr kumimoji="1" lang="zh-TW" altLang="en-US" smtClean="0"/>
              <a:t>2024/3/21</a:t>
            </a:fld>
            <a:endParaRPr kumimoji="1" lang="zh-TW" altLang="en-US"/>
          </a:p>
        </p:txBody>
      </p:sp>
      <p:sp>
        <p:nvSpPr>
          <p:cNvPr id="5" name="頁尾版面配置區 4">
            <a:extLst>
              <a:ext uri="{FF2B5EF4-FFF2-40B4-BE49-F238E27FC236}">
                <a16:creationId xmlns:a16="http://schemas.microsoft.com/office/drawing/2014/main" id="{E427DFE1-12C5-B0BC-E281-4AE4B68D44D4}"/>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4568804B-34B8-B714-FBBD-EF9399D6FB8D}"/>
              </a:ext>
            </a:extLst>
          </p:cNvPr>
          <p:cNvSpPr>
            <a:spLocks noGrp="1"/>
          </p:cNvSpPr>
          <p:nvPr>
            <p:ph type="sldNum" sz="quarter" idx="12"/>
          </p:nvPr>
        </p:nvSpPr>
        <p:spPr/>
        <p:txBody>
          <a:bodyPr/>
          <a:lstStyle/>
          <a:p>
            <a:fld id="{B9D68834-627D-4649-8A5D-3B6DDB9EC3D0}" type="slidenum">
              <a:rPr kumimoji="1" lang="zh-TW" altLang="en-US" smtClean="0"/>
              <a:t>‹#›</a:t>
            </a:fld>
            <a:endParaRPr kumimoji="1" lang="zh-TW" altLang="en-US"/>
          </a:p>
        </p:txBody>
      </p:sp>
    </p:spTree>
    <p:extLst>
      <p:ext uri="{BB962C8B-B14F-4D97-AF65-F5344CB8AC3E}">
        <p14:creationId xmlns:p14="http://schemas.microsoft.com/office/powerpoint/2010/main" val="4286512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D4E211-98BB-C49C-009A-66F9B3BF432F}"/>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EC795AFD-2346-93DF-02D8-5D21AB446FBF}"/>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C7A2315C-DE8E-D0EE-F6D6-1948BAC55A64}"/>
              </a:ext>
            </a:extLst>
          </p:cNvPr>
          <p:cNvSpPr>
            <a:spLocks noGrp="1"/>
          </p:cNvSpPr>
          <p:nvPr>
            <p:ph type="dt" sz="half" idx="10"/>
          </p:nvPr>
        </p:nvSpPr>
        <p:spPr/>
        <p:txBody>
          <a:bodyPr/>
          <a:lstStyle/>
          <a:p>
            <a:fld id="{730A81C7-2B5D-BB46-AA28-631DD74A13CA}" type="datetimeFigureOut">
              <a:rPr kumimoji="1" lang="zh-TW" altLang="en-US" smtClean="0"/>
              <a:t>2024/3/21</a:t>
            </a:fld>
            <a:endParaRPr kumimoji="1" lang="zh-TW" altLang="en-US"/>
          </a:p>
        </p:txBody>
      </p:sp>
      <p:sp>
        <p:nvSpPr>
          <p:cNvPr id="5" name="頁尾版面配置區 4">
            <a:extLst>
              <a:ext uri="{FF2B5EF4-FFF2-40B4-BE49-F238E27FC236}">
                <a16:creationId xmlns:a16="http://schemas.microsoft.com/office/drawing/2014/main" id="{2B3A8A8E-6D20-04E3-0675-6180C9E13752}"/>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8B4701B-D092-7EA9-ED06-DF956E537FDE}"/>
              </a:ext>
            </a:extLst>
          </p:cNvPr>
          <p:cNvSpPr>
            <a:spLocks noGrp="1"/>
          </p:cNvSpPr>
          <p:nvPr>
            <p:ph type="sldNum" sz="quarter" idx="12"/>
          </p:nvPr>
        </p:nvSpPr>
        <p:spPr/>
        <p:txBody>
          <a:bodyPr/>
          <a:lstStyle/>
          <a:p>
            <a:fld id="{B9D68834-627D-4649-8A5D-3B6DDB9EC3D0}" type="slidenum">
              <a:rPr kumimoji="1" lang="zh-TW" altLang="en-US" smtClean="0"/>
              <a:t>‹#›</a:t>
            </a:fld>
            <a:endParaRPr kumimoji="1" lang="zh-TW" altLang="en-US"/>
          </a:p>
        </p:txBody>
      </p:sp>
    </p:spTree>
    <p:extLst>
      <p:ext uri="{BB962C8B-B14F-4D97-AF65-F5344CB8AC3E}">
        <p14:creationId xmlns:p14="http://schemas.microsoft.com/office/powerpoint/2010/main" val="1535299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C36A15D-3D27-7BE7-AB06-610A71F1892F}"/>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365A845F-46E0-28D8-B81F-6D4F1DE64C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6AF98C49-184D-7617-91DA-F0BA4648B609}"/>
              </a:ext>
            </a:extLst>
          </p:cNvPr>
          <p:cNvSpPr>
            <a:spLocks noGrp="1"/>
          </p:cNvSpPr>
          <p:nvPr>
            <p:ph type="dt" sz="half" idx="10"/>
          </p:nvPr>
        </p:nvSpPr>
        <p:spPr/>
        <p:txBody>
          <a:bodyPr/>
          <a:lstStyle/>
          <a:p>
            <a:fld id="{730A81C7-2B5D-BB46-AA28-631DD74A13CA}" type="datetimeFigureOut">
              <a:rPr kumimoji="1" lang="zh-TW" altLang="en-US" smtClean="0"/>
              <a:t>2024/3/21</a:t>
            </a:fld>
            <a:endParaRPr kumimoji="1" lang="zh-TW" altLang="en-US"/>
          </a:p>
        </p:txBody>
      </p:sp>
      <p:sp>
        <p:nvSpPr>
          <p:cNvPr id="5" name="頁尾版面配置區 4">
            <a:extLst>
              <a:ext uri="{FF2B5EF4-FFF2-40B4-BE49-F238E27FC236}">
                <a16:creationId xmlns:a16="http://schemas.microsoft.com/office/drawing/2014/main" id="{5D4D6FC8-014D-63CB-9952-7494746270CA}"/>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6AAD544-C8F5-15DD-4285-B2EE856B15F5}"/>
              </a:ext>
            </a:extLst>
          </p:cNvPr>
          <p:cNvSpPr>
            <a:spLocks noGrp="1"/>
          </p:cNvSpPr>
          <p:nvPr>
            <p:ph type="sldNum" sz="quarter" idx="12"/>
          </p:nvPr>
        </p:nvSpPr>
        <p:spPr/>
        <p:txBody>
          <a:bodyPr/>
          <a:lstStyle/>
          <a:p>
            <a:fld id="{B9D68834-627D-4649-8A5D-3B6DDB9EC3D0}" type="slidenum">
              <a:rPr kumimoji="1" lang="zh-TW" altLang="en-US" smtClean="0"/>
              <a:t>‹#›</a:t>
            </a:fld>
            <a:endParaRPr kumimoji="1" lang="zh-TW" altLang="en-US"/>
          </a:p>
        </p:txBody>
      </p:sp>
    </p:spTree>
    <p:extLst>
      <p:ext uri="{BB962C8B-B14F-4D97-AF65-F5344CB8AC3E}">
        <p14:creationId xmlns:p14="http://schemas.microsoft.com/office/powerpoint/2010/main" val="109152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A996864-D085-F69D-2342-AD872BB30FDF}"/>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4997F3D8-2A97-7BA0-D2A4-6BC5BAA6B580}"/>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AECCEF46-E371-6C69-CB95-964D06C25AC2}"/>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5A4E26B5-41A7-785F-4879-010E3314B704}"/>
              </a:ext>
            </a:extLst>
          </p:cNvPr>
          <p:cNvSpPr>
            <a:spLocks noGrp="1"/>
          </p:cNvSpPr>
          <p:nvPr>
            <p:ph type="dt" sz="half" idx="10"/>
          </p:nvPr>
        </p:nvSpPr>
        <p:spPr/>
        <p:txBody>
          <a:bodyPr/>
          <a:lstStyle/>
          <a:p>
            <a:fld id="{730A81C7-2B5D-BB46-AA28-631DD74A13CA}" type="datetimeFigureOut">
              <a:rPr kumimoji="1" lang="zh-TW" altLang="en-US" smtClean="0"/>
              <a:t>2024/3/21</a:t>
            </a:fld>
            <a:endParaRPr kumimoji="1" lang="zh-TW" altLang="en-US"/>
          </a:p>
        </p:txBody>
      </p:sp>
      <p:sp>
        <p:nvSpPr>
          <p:cNvPr id="6" name="頁尾版面配置區 5">
            <a:extLst>
              <a:ext uri="{FF2B5EF4-FFF2-40B4-BE49-F238E27FC236}">
                <a16:creationId xmlns:a16="http://schemas.microsoft.com/office/drawing/2014/main" id="{13336F93-55B7-2163-D06C-4742138E6802}"/>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028D8487-0D51-CDAA-6544-4EF7DAFBBB12}"/>
              </a:ext>
            </a:extLst>
          </p:cNvPr>
          <p:cNvSpPr>
            <a:spLocks noGrp="1"/>
          </p:cNvSpPr>
          <p:nvPr>
            <p:ph type="sldNum" sz="quarter" idx="12"/>
          </p:nvPr>
        </p:nvSpPr>
        <p:spPr/>
        <p:txBody>
          <a:bodyPr/>
          <a:lstStyle/>
          <a:p>
            <a:fld id="{B9D68834-627D-4649-8A5D-3B6DDB9EC3D0}" type="slidenum">
              <a:rPr kumimoji="1" lang="zh-TW" altLang="en-US" smtClean="0"/>
              <a:t>‹#›</a:t>
            </a:fld>
            <a:endParaRPr kumimoji="1" lang="zh-TW" altLang="en-US"/>
          </a:p>
        </p:txBody>
      </p:sp>
    </p:spTree>
    <p:extLst>
      <p:ext uri="{BB962C8B-B14F-4D97-AF65-F5344CB8AC3E}">
        <p14:creationId xmlns:p14="http://schemas.microsoft.com/office/powerpoint/2010/main" val="2805703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0BD1487-2045-6E7A-6C67-590790A9AC06}"/>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CED92403-449E-ACC8-FDDC-59EFE503C4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632A4CD2-04C0-C1DE-C892-16C4CE3D7E29}"/>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925E16DE-D21F-D047-F589-DCAA4D3CED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C32AD202-2666-5211-A7B6-AFA085CA1409}"/>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39C6B59F-558E-CE54-64AD-F59E0A2D9A51}"/>
              </a:ext>
            </a:extLst>
          </p:cNvPr>
          <p:cNvSpPr>
            <a:spLocks noGrp="1"/>
          </p:cNvSpPr>
          <p:nvPr>
            <p:ph type="dt" sz="half" idx="10"/>
          </p:nvPr>
        </p:nvSpPr>
        <p:spPr/>
        <p:txBody>
          <a:bodyPr/>
          <a:lstStyle/>
          <a:p>
            <a:fld id="{730A81C7-2B5D-BB46-AA28-631DD74A13CA}" type="datetimeFigureOut">
              <a:rPr kumimoji="1" lang="zh-TW" altLang="en-US" smtClean="0"/>
              <a:t>2024/3/21</a:t>
            </a:fld>
            <a:endParaRPr kumimoji="1" lang="zh-TW" altLang="en-US"/>
          </a:p>
        </p:txBody>
      </p:sp>
      <p:sp>
        <p:nvSpPr>
          <p:cNvPr id="8" name="頁尾版面配置區 7">
            <a:extLst>
              <a:ext uri="{FF2B5EF4-FFF2-40B4-BE49-F238E27FC236}">
                <a16:creationId xmlns:a16="http://schemas.microsoft.com/office/drawing/2014/main" id="{F09E88D7-3B62-AA03-105E-AD39FA57A6D5}"/>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C0B57369-F72D-1A53-E574-C500855E4257}"/>
              </a:ext>
            </a:extLst>
          </p:cNvPr>
          <p:cNvSpPr>
            <a:spLocks noGrp="1"/>
          </p:cNvSpPr>
          <p:nvPr>
            <p:ph type="sldNum" sz="quarter" idx="12"/>
          </p:nvPr>
        </p:nvSpPr>
        <p:spPr/>
        <p:txBody>
          <a:bodyPr/>
          <a:lstStyle/>
          <a:p>
            <a:fld id="{B9D68834-627D-4649-8A5D-3B6DDB9EC3D0}" type="slidenum">
              <a:rPr kumimoji="1" lang="zh-TW" altLang="en-US" smtClean="0"/>
              <a:t>‹#›</a:t>
            </a:fld>
            <a:endParaRPr kumimoji="1" lang="zh-TW" altLang="en-US"/>
          </a:p>
        </p:txBody>
      </p:sp>
    </p:spTree>
    <p:extLst>
      <p:ext uri="{BB962C8B-B14F-4D97-AF65-F5344CB8AC3E}">
        <p14:creationId xmlns:p14="http://schemas.microsoft.com/office/powerpoint/2010/main" val="24309831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9496F5D-8970-7C5C-F239-C2B64A43CB78}"/>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76F0E13F-AF48-5F24-C930-F794A59A8321}"/>
              </a:ext>
            </a:extLst>
          </p:cNvPr>
          <p:cNvSpPr>
            <a:spLocks noGrp="1"/>
          </p:cNvSpPr>
          <p:nvPr>
            <p:ph type="dt" sz="half" idx="10"/>
          </p:nvPr>
        </p:nvSpPr>
        <p:spPr/>
        <p:txBody>
          <a:bodyPr/>
          <a:lstStyle/>
          <a:p>
            <a:fld id="{730A81C7-2B5D-BB46-AA28-631DD74A13CA}" type="datetimeFigureOut">
              <a:rPr kumimoji="1" lang="zh-TW" altLang="en-US" smtClean="0"/>
              <a:t>2024/3/21</a:t>
            </a:fld>
            <a:endParaRPr kumimoji="1" lang="zh-TW" altLang="en-US"/>
          </a:p>
        </p:txBody>
      </p:sp>
      <p:sp>
        <p:nvSpPr>
          <p:cNvPr id="4" name="頁尾版面配置區 3">
            <a:extLst>
              <a:ext uri="{FF2B5EF4-FFF2-40B4-BE49-F238E27FC236}">
                <a16:creationId xmlns:a16="http://schemas.microsoft.com/office/drawing/2014/main" id="{A74B7A67-BD00-A852-ABBB-CBE8F46D56AF}"/>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ACC98031-608C-5D48-797C-E9AE798F7713}"/>
              </a:ext>
            </a:extLst>
          </p:cNvPr>
          <p:cNvSpPr>
            <a:spLocks noGrp="1"/>
          </p:cNvSpPr>
          <p:nvPr>
            <p:ph type="sldNum" sz="quarter" idx="12"/>
          </p:nvPr>
        </p:nvSpPr>
        <p:spPr/>
        <p:txBody>
          <a:bodyPr/>
          <a:lstStyle/>
          <a:p>
            <a:fld id="{B9D68834-627D-4649-8A5D-3B6DDB9EC3D0}" type="slidenum">
              <a:rPr kumimoji="1" lang="zh-TW" altLang="en-US" smtClean="0"/>
              <a:t>‹#›</a:t>
            </a:fld>
            <a:endParaRPr kumimoji="1" lang="zh-TW" altLang="en-US"/>
          </a:p>
        </p:txBody>
      </p:sp>
    </p:spTree>
    <p:extLst>
      <p:ext uri="{BB962C8B-B14F-4D97-AF65-F5344CB8AC3E}">
        <p14:creationId xmlns:p14="http://schemas.microsoft.com/office/powerpoint/2010/main" val="194739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DA5FDD6-05CD-C8AF-98F8-0EDF1A9246A7}"/>
              </a:ext>
            </a:extLst>
          </p:cNvPr>
          <p:cNvSpPr>
            <a:spLocks noGrp="1"/>
          </p:cNvSpPr>
          <p:nvPr>
            <p:ph type="dt" sz="half" idx="10"/>
          </p:nvPr>
        </p:nvSpPr>
        <p:spPr/>
        <p:txBody>
          <a:bodyPr/>
          <a:lstStyle/>
          <a:p>
            <a:fld id="{730A81C7-2B5D-BB46-AA28-631DD74A13CA}" type="datetimeFigureOut">
              <a:rPr kumimoji="1" lang="zh-TW" altLang="en-US" smtClean="0"/>
              <a:t>2024/3/21</a:t>
            </a:fld>
            <a:endParaRPr kumimoji="1" lang="zh-TW" altLang="en-US"/>
          </a:p>
        </p:txBody>
      </p:sp>
      <p:sp>
        <p:nvSpPr>
          <p:cNvPr id="3" name="頁尾版面配置區 2">
            <a:extLst>
              <a:ext uri="{FF2B5EF4-FFF2-40B4-BE49-F238E27FC236}">
                <a16:creationId xmlns:a16="http://schemas.microsoft.com/office/drawing/2014/main" id="{E98D4CD9-7F1F-C460-95A9-DE8B7BEC4FD1}"/>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8036B771-C5D3-2B84-1324-D36FE9295AE8}"/>
              </a:ext>
            </a:extLst>
          </p:cNvPr>
          <p:cNvSpPr>
            <a:spLocks noGrp="1"/>
          </p:cNvSpPr>
          <p:nvPr>
            <p:ph type="sldNum" sz="quarter" idx="12"/>
          </p:nvPr>
        </p:nvSpPr>
        <p:spPr/>
        <p:txBody>
          <a:bodyPr/>
          <a:lstStyle/>
          <a:p>
            <a:fld id="{B9D68834-627D-4649-8A5D-3B6DDB9EC3D0}" type="slidenum">
              <a:rPr kumimoji="1" lang="zh-TW" altLang="en-US" smtClean="0"/>
              <a:t>‹#›</a:t>
            </a:fld>
            <a:endParaRPr kumimoji="1" lang="zh-TW" altLang="en-US"/>
          </a:p>
        </p:txBody>
      </p:sp>
    </p:spTree>
    <p:extLst>
      <p:ext uri="{BB962C8B-B14F-4D97-AF65-F5344CB8AC3E}">
        <p14:creationId xmlns:p14="http://schemas.microsoft.com/office/powerpoint/2010/main" val="1977615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A5BE0D5-1EF7-E2DD-7F83-1F01C7498897}"/>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98FAC985-EC2F-5B6F-DF83-3B4B531025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7BBBC07F-468C-7A46-B6B8-916FBA98BD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D57CAF93-61ED-1120-79C5-2AAFA7CC99E8}"/>
              </a:ext>
            </a:extLst>
          </p:cNvPr>
          <p:cNvSpPr>
            <a:spLocks noGrp="1"/>
          </p:cNvSpPr>
          <p:nvPr>
            <p:ph type="dt" sz="half" idx="10"/>
          </p:nvPr>
        </p:nvSpPr>
        <p:spPr/>
        <p:txBody>
          <a:bodyPr/>
          <a:lstStyle/>
          <a:p>
            <a:fld id="{730A81C7-2B5D-BB46-AA28-631DD74A13CA}" type="datetimeFigureOut">
              <a:rPr kumimoji="1" lang="zh-TW" altLang="en-US" smtClean="0"/>
              <a:t>2024/3/21</a:t>
            </a:fld>
            <a:endParaRPr kumimoji="1" lang="zh-TW" altLang="en-US"/>
          </a:p>
        </p:txBody>
      </p:sp>
      <p:sp>
        <p:nvSpPr>
          <p:cNvPr id="6" name="頁尾版面配置區 5">
            <a:extLst>
              <a:ext uri="{FF2B5EF4-FFF2-40B4-BE49-F238E27FC236}">
                <a16:creationId xmlns:a16="http://schemas.microsoft.com/office/drawing/2014/main" id="{A0BC8811-174E-8BF9-E26D-89582B71B508}"/>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013621B0-A4BE-809A-9F86-64EEB6AD8394}"/>
              </a:ext>
            </a:extLst>
          </p:cNvPr>
          <p:cNvSpPr>
            <a:spLocks noGrp="1"/>
          </p:cNvSpPr>
          <p:nvPr>
            <p:ph type="sldNum" sz="quarter" idx="12"/>
          </p:nvPr>
        </p:nvSpPr>
        <p:spPr/>
        <p:txBody>
          <a:bodyPr/>
          <a:lstStyle/>
          <a:p>
            <a:fld id="{B9D68834-627D-4649-8A5D-3B6DDB9EC3D0}" type="slidenum">
              <a:rPr kumimoji="1" lang="zh-TW" altLang="en-US" smtClean="0"/>
              <a:t>‹#›</a:t>
            </a:fld>
            <a:endParaRPr kumimoji="1" lang="zh-TW" altLang="en-US"/>
          </a:p>
        </p:txBody>
      </p:sp>
    </p:spTree>
    <p:extLst>
      <p:ext uri="{BB962C8B-B14F-4D97-AF65-F5344CB8AC3E}">
        <p14:creationId xmlns:p14="http://schemas.microsoft.com/office/powerpoint/2010/main" val="1626774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F1BF884-98EC-F4D2-8C3C-161C38C3BDCF}"/>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3289D829-ED81-BD5C-8EC5-35225011DD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534FA3DC-6144-0212-F3B7-282C6E01C2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9B4C2BC9-F688-AAB4-DF15-BCB8E757AE8E}"/>
              </a:ext>
            </a:extLst>
          </p:cNvPr>
          <p:cNvSpPr>
            <a:spLocks noGrp="1"/>
          </p:cNvSpPr>
          <p:nvPr>
            <p:ph type="dt" sz="half" idx="10"/>
          </p:nvPr>
        </p:nvSpPr>
        <p:spPr/>
        <p:txBody>
          <a:bodyPr/>
          <a:lstStyle/>
          <a:p>
            <a:fld id="{730A81C7-2B5D-BB46-AA28-631DD74A13CA}" type="datetimeFigureOut">
              <a:rPr kumimoji="1" lang="zh-TW" altLang="en-US" smtClean="0"/>
              <a:t>2024/3/21</a:t>
            </a:fld>
            <a:endParaRPr kumimoji="1" lang="zh-TW" altLang="en-US"/>
          </a:p>
        </p:txBody>
      </p:sp>
      <p:sp>
        <p:nvSpPr>
          <p:cNvPr id="6" name="頁尾版面配置區 5">
            <a:extLst>
              <a:ext uri="{FF2B5EF4-FFF2-40B4-BE49-F238E27FC236}">
                <a16:creationId xmlns:a16="http://schemas.microsoft.com/office/drawing/2014/main" id="{7E6EE790-48D3-E69A-C544-D1EB554842CB}"/>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8D4B1D4B-6F81-1790-2D50-24F1D5D8E083}"/>
              </a:ext>
            </a:extLst>
          </p:cNvPr>
          <p:cNvSpPr>
            <a:spLocks noGrp="1"/>
          </p:cNvSpPr>
          <p:nvPr>
            <p:ph type="sldNum" sz="quarter" idx="12"/>
          </p:nvPr>
        </p:nvSpPr>
        <p:spPr/>
        <p:txBody>
          <a:bodyPr/>
          <a:lstStyle/>
          <a:p>
            <a:fld id="{B9D68834-627D-4649-8A5D-3B6DDB9EC3D0}" type="slidenum">
              <a:rPr kumimoji="1" lang="zh-TW" altLang="en-US" smtClean="0"/>
              <a:t>‹#›</a:t>
            </a:fld>
            <a:endParaRPr kumimoji="1" lang="zh-TW" altLang="en-US"/>
          </a:p>
        </p:txBody>
      </p:sp>
    </p:spTree>
    <p:extLst>
      <p:ext uri="{BB962C8B-B14F-4D97-AF65-F5344CB8AC3E}">
        <p14:creationId xmlns:p14="http://schemas.microsoft.com/office/powerpoint/2010/main" val="24372305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5E9A52E-8D12-6CF8-C48B-698269D9AD8F}"/>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E26446CE-9808-3955-3EC7-0028F35C3725}"/>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07A92DC6-4881-F463-D08D-977F7C8636E9}"/>
              </a:ext>
            </a:extLst>
          </p:cNvPr>
          <p:cNvSpPr>
            <a:spLocks noGrp="1"/>
          </p:cNvSpPr>
          <p:nvPr>
            <p:ph type="dt" sz="half" idx="10"/>
          </p:nvPr>
        </p:nvSpPr>
        <p:spPr/>
        <p:txBody>
          <a:bodyPr/>
          <a:lstStyle/>
          <a:p>
            <a:fld id="{730A81C7-2B5D-BB46-AA28-631DD74A13CA}" type="datetimeFigureOut">
              <a:rPr kumimoji="1" lang="zh-TW" altLang="en-US" smtClean="0"/>
              <a:t>2024/3/21</a:t>
            </a:fld>
            <a:endParaRPr kumimoji="1" lang="zh-TW" altLang="en-US"/>
          </a:p>
        </p:txBody>
      </p:sp>
      <p:sp>
        <p:nvSpPr>
          <p:cNvPr id="5" name="頁尾版面配置區 4">
            <a:extLst>
              <a:ext uri="{FF2B5EF4-FFF2-40B4-BE49-F238E27FC236}">
                <a16:creationId xmlns:a16="http://schemas.microsoft.com/office/drawing/2014/main" id="{E144CD62-86F9-878D-B53F-F967BEB13F80}"/>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437F81CA-8079-37EF-DB44-6061DD47E09E}"/>
              </a:ext>
            </a:extLst>
          </p:cNvPr>
          <p:cNvSpPr>
            <a:spLocks noGrp="1"/>
          </p:cNvSpPr>
          <p:nvPr>
            <p:ph type="sldNum" sz="quarter" idx="12"/>
          </p:nvPr>
        </p:nvSpPr>
        <p:spPr/>
        <p:txBody>
          <a:bodyPr/>
          <a:lstStyle/>
          <a:p>
            <a:fld id="{B9D68834-627D-4649-8A5D-3B6DDB9EC3D0}" type="slidenum">
              <a:rPr kumimoji="1" lang="zh-TW" altLang="en-US" smtClean="0"/>
              <a:t>‹#›</a:t>
            </a:fld>
            <a:endParaRPr kumimoji="1" lang="zh-TW" altLang="en-US"/>
          </a:p>
        </p:txBody>
      </p:sp>
    </p:spTree>
    <p:extLst>
      <p:ext uri="{BB962C8B-B14F-4D97-AF65-F5344CB8AC3E}">
        <p14:creationId xmlns:p14="http://schemas.microsoft.com/office/powerpoint/2010/main" val="2779408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732BD63C-2147-6E88-1402-7C87D0489F96}"/>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74F03A9F-E0B3-0783-9478-25DA2B52DA68}"/>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950E42AB-A4AC-6DE3-42DB-2AF44E94FE30}"/>
              </a:ext>
            </a:extLst>
          </p:cNvPr>
          <p:cNvSpPr>
            <a:spLocks noGrp="1"/>
          </p:cNvSpPr>
          <p:nvPr>
            <p:ph type="dt" sz="half" idx="10"/>
          </p:nvPr>
        </p:nvSpPr>
        <p:spPr/>
        <p:txBody>
          <a:bodyPr/>
          <a:lstStyle/>
          <a:p>
            <a:fld id="{730A81C7-2B5D-BB46-AA28-631DD74A13CA}" type="datetimeFigureOut">
              <a:rPr kumimoji="1" lang="zh-TW" altLang="en-US" smtClean="0"/>
              <a:t>2024/3/21</a:t>
            </a:fld>
            <a:endParaRPr kumimoji="1" lang="zh-TW" altLang="en-US"/>
          </a:p>
        </p:txBody>
      </p:sp>
      <p:sp>
        <p:nvSpPr>
          <p:cNvPr id="5" name="頁尾版面配置區 4">
            <a:extLst>
              <a:ext uri="{FF2B5EF4-FFF2-40B4-BE49-F238E27FC236}">
                <a16:creationId xmlns:a16="http://schemas.microsoft.com/office/drawing/2014/main" id="{F20F37FD-396D-F5A5-A778-95F53BCB1E50}"/>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807E0E80-C7D5-BB99-8F49-D9A4C613DCAC}"/>
              </a:ext>
            </a:extLst>
          </p:cNvPr>
          <p:cNvSpPr>
            <a:spLocks noGrp="1"/>
          </p:cNvSpPr>
          <p:nvPr>
            <p:ph type="sldNum" sz="quarter" idx="12"/>
          </p:nvPr>
        </p:nvSpPr>
        <p:spPr/>
        <p:txBody>
          <a:bodyPr/>
          <a:lstStyle/>
          <a:p>
            <a:fld id="{B9D68834-627D-4649-8A5D-3B6DDB9EC3D0}" type="slidenum">
              <a:rPr kumimoji="1" lang="zh-TW" altLang="en-US" smtClean="0"/>
              <a:t>‹#›</a:t>
            </a:fld>
            <a:endParaRPr kumimoji="1" lang="zh-TW" altLang="en-US"/>
          </a:p>
        </p:txBody>
      </p:sp>
    </p:spTree>
    <p:extLst>
      <p:ext uri="{BB962C8B-B14F-4D97-AF65-F5344CB8AC3E}">
        <p14:creationId xmlns:p14="http://schemas.microsoft.com/office/powerpoint/2010/main" val="1379383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63F4B1AF-D8C4-4BFF-81D9-EC069802F0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E61C73B4-2758-FD0F-77EB-75BFB874F5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3348818-C721-6EBC-1CE0-ADA2EEBDBE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30A81C7-2B5D-BB46-AA28-631DD74A13CA}" type="datetimeFigureOut">
              <a:rPr kumimoji="1" lang="zh-TW" altLang="en-US" smtClean="0"/>
              <a:t>2024/3/21</a:t>
            </a:fld>
            <a:endParaRPr kumimoji="1" lang="zh-TW" altLang="en-US"/>
          </a:p>
        </p:txBody>
      </p:sp>
      <p:sp>
        <p:nvSpPr>
          <p:cNvPr id="5" name="頁尾版面配置區 4">
            <a:extLst>
              <a:ext uri="{FF2B5EF4-FFF2-40B4-BE49-F238E27FC236}">
                <a16:creationId xmlns:a16="http://schemas.microsoft.com/office/drawing/2014/main" id="{0836CE45-BC5F-D8E1-FC76-831E0E3D89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F0749308-7EC5-1EFA-2F3D-7E9837E9A6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9D68834-627D-4649-8A5D-3B6DDB9EC3D0}" type="slidenum">
              <a:rPr kumimoji="1" lang="zh-TW" altLang="en-US" smtClean="0"/>
              <a:t>‹#›</a:t>
            </a:fld>
            <a:endParaRPr kumimoji="1" lang="zh-TW" altLang="en-US"/>
          </a:p>
        </p:txBody>
      </p:sp>
    </p:spTree>
    <p:extLst>
      <p:ext uri="{BB962C8B-B14F-4D97-AF65-F5344CB8AC3E}">
        <p14:creationId xmlns:p14="http://schemas.microsoft.com/office/powerpoint/2010/main" val="33934032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120.126.17.200/stock/dashboard.php"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DAB2715-C357-0F8B-7007-1C2051D2D9E3}"/>
              </a:ext>
            </a:extLst>
          </p:cNvPr>
          <p:cNvSpPr>
            <a:spLocks noGrp="1"/>
          </p:cNvSpPr>
          <p:nvPr>
            <p:ph type="title"/>
          </p:nvPr>
        </p:nvSpPr>
        <p:spPr>
          <a:xfrm>
            <a:off x="838200" y="188459"/>
            <a:ext cx="10515600" cy="875846"/>
          </a:xfrm>
        </p:spPr>
        <p:txBody>
          <a:bodyPr/>
          <a:lstStyle/>
          <a:p>
            <a:r>
              <a:rPr kumimoji="1" lang="zh-TW" altLang="en-US" b="1" dirty="0"/>
              <a:t>股市交易平台</a:t>
            </a:r>
          </a:p>
        </p:txBody>
      </p:sp>
      <p:pic>
        <p:nvPicPr>
          <p:cNvPr id="4" name="內容版面配置區 3">
            <a:extLst>
              <a:ext uri="{FF2B5EF4-FFF2-40B4-BE49-F238E27FC236}">
                <a16:creationId xmlns:a16="http://schemas.microsoft.com/office/drawing/2014/main" id="{F07ED4D3-836B-1030-FF51-D48479DE42F3}"/>
              </a:ext>
            </a:extLst>
          </p:cNvPr>
          <p:cNvPicPr>
            <a:picLocks noGrp="1" noChangeAspect="1"/>
          </p:cNvPicPr>
          <p:nvPr>
            <p:ph idx="1"/>
          </p:nvPr>
        </p:nvPicPr>
        <p:blipFill>
          <a:blip r:embed="rId2"/>
          <a:stretch>
            <a:fillRect/>
          </a:stretch>
        </p:blipFill>
        <p:spPr>
          <a:xfrm>
            <a:off x="1945365" y="1271108"/>
            <a:ext cx="8983892" cy="4797224"/>
          </a:xfrm>
          <a:prstGeom prst="rect">
            <a:avLst/>
          </a:prstGeom>
        </p:spPr>
      </p:pic>
    </p:spTree>
    <p:extLst>
      <p:ext uri="{BB962C8B-B14F-4D97-AF65-F5344CB8AC3E}">
        <p14:creationId xmlns:p14="http://schemas.microsoft.com/office/powerpoint/2010/main" val="2026935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a:extLst>
              <a:ext uri="{FF2B5EF4-FFF2-40B4-BE49-F238E27FC236}">
                <a16:creationId xmlns:a16="http://schemas.microsoft.com/office/drawing/2014/main" id="{24FC6F0B-CD90-7EA3-8393-1EDE85EF33C5}"/>
              </a:ext>
            </a:extLst>
          </p:cNvPr>
          <p:cNvPicPr>
            <a:picLocks noGrp="1" noChangeAspect="1"/>
          </p:cNvPicPr>
          <p:nvPr>
            <p:ph idx="1"/>
          </p:nvPr>
        </p:nvPicPr>
        <p:blipFill>
          <a:blip r:embed="rId2"/>
          <a:stretch>
            <a:fillRect/>
          </a:stretch>
        </p:blipFill>
        <p:spPr>
          <a:xfrm>
            <a:off x="2645229" y="1466396"/>
            <a:ext cx="5677951" cy="3769633"/>
          </a:xfrm>
          <a:prstGeom prst="rect">
            <a:avLst/>
          </a:prstGeom>
        </p:spPr>
      </p:pic>
      <p:sp>
        <p:nvSpPr>
          <p:cNvPr id="5" name="標題 1">
            <a:extLst>
              <a:ext uri="{FF2B5EF4-FFF2-40B4-BE49-F238E27FC236}">
                <a16:creationId xmlns:a16="http://schemas.microsoft.com/office/drawing/2014/main" id="{892A5A7C-AA07-95A1-9C3C-D07CF1CE566B}"/>
              </a:ext>
            </a:extLst>
          </p:cNvPr>
          <p:cNvSpPr txBox="1">
            <a:spLocks/>
          </p:cNvSpPr>
          <p:nvPr/>
        </p:nvSpPr>
        <p:spPr>
          <a:xfrm>
            <a:off x="838200" y="188459"/>
            <a:ext cx="10515600" cy="87584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TW" altLang="en-US" b="1"/>
              <a:t>股市交易平台</a:t>
            </a:r>
            <a:endParaRPr kumimoji="1" lang="zh-TW" altLang="en-US" b="1" dirty="0"/>
          </a:p>
        </p:txBody>
      </p:sp>
      <p:sp>
        <p:nvSpPr>
          <p:cNvPr id="7" name="文字方塊 6">
            <a:extLst>
              <a:ext uri="{FF2B5EF4-FFF2-40B4-BE49-F238E27FC236}">
                <a16:creationId xmlns:a16="http://schemas.microsoft.com/office/drawing/2014/main" id="{EA373288-A356-EC82-C12D-F5918FE2A804}"/>
              </a:ext>
            </a:extLst>
          </p:cNvPr>
          <p:cNvSpPr txBox="1"/>
          <p:nvPr/>
        </p:nvSpPr>
        <p:spPr>
          <a:xfrm>
            <a:off x="2786743" y="5638120"/>
            <a:ext cx="6096000" cy="369332"/>
          </a:xfrm>
          <a:prstGeom prst="rect">
            <a:avLst/>
          </a:prstGeom>
          <a:noFill/>
        </p:spPr>
        <p:txBody>
          <a:bodyPr wrap="square">
            <a:spAutoFit/>
          </a:bodyPr>
          <a:lstStyle/>
          <a:p>
            <a:r>
              <a:rPr lang="zh-TW" altLang="en-US" dirty="0">
                <a:hlinkClick r:id="rId3"/>
              </a:rPr>
              <a:t>http://120.126.17.200/stock/dashboard.php</a:t>
            </a:r>
            <a:r>
              <a:rPr lang="en-US" altLang="zh-TW" dirty="0"/>
              <a:t> </a:t>
            </a:r>
            <a:endParaRPr lang="zh-TW" altLang="en-US" dirty="0"/>
          </a:p>
        </p:txBody>
      </p:sp>
    </p:spTree>
    <p:extLst>
      <p:ext uri="{BB962C8B-B14F-4D97-AF65-F5344CB8AC3E}">
        <p14:creationId xmlns:p14="http://schemas.microsoft.com/office/powerpoint/2010/main" val="1827317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BCFACF7-AC1C-4E01-86AC-8753161440B6}"/>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9239E2DD-9380-4BC3-BB97-76523DDC7B32}"/>
              </a:ext>
            </a:extLst>
          </p:cNvPr>
          <p:cNvSpPr>
            <a:spLocks noGrp="1"/>
          </p:cNvSpPr>
          <p:nvPr>
            <p:ph idx="1"/>
          </p:nvPr>
        </p:nvSpPr>
        <p:spPr/>
        <p:txBody>
          <a:bodyPr/>
          <a:lstStyle/>
          <a:p>
            <a:endParaRPr lang="zh-TW" altLang="en-US"/>
          </a:p>
        </p:txBody>
      </p:sp>
    </p:spTree>
    <p:extLst>
      <p:ext uri="{BB962C8B-B14F-4D97-AF65-F5344CB8AC3E}">
        <p14:creationId xmlns:p14="http://schemas.microsoft.com/office/powerpoint/2010/main" val="2134386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002562F-08AB-8B74-11F2-C979054E9007}"/>
              </a:ext>
            </a:extLst>
          </p:cNvPr>
          <p:cNvSpPr>
            <a:spLocks noGrp="1"/>
          </p:cNvSpPr>
          <p:nvPr>
            <p:ph type="title"/>
          </p:nvPr>
        </p:nvSpPr>
        <p:spPr>
          <a:xfrm>
            <a:off x="838200" y="73548"/>
            <a:ext cx="10515600" cy="1325563"/>
          </a:xfrm>
        </p:spPr>
        <p:txBody>
          <a:bodyPr/>
          <a:lstStyle/>
          <a:p>
            <a:pPr algn="ctr"/>
            <a:r>
              <a:rPr kumimoji="1" lang="zh-TW" altLang="en-US" b="1" dirty="0"/>
              <a:t>開放登記公司</a:t>
            </a:r>
          </a:p>
        </p:txBody>
      </p:sp>
      <p:grpSp>
        <p:nvGrpSpPr>
          <p:cNvPr id="20" name="群組 19">
            <a:extLst>
              <a:ext uri="{FF2B5EF4-FFF2-40B4-BE49-F238E27FC236}">
                <a16:creationId xmlns:a16="http://schemas.microsoft.com/office/drawing/2014/main" id="{E858FE17-4E4C-F7C3-B5D0-B2FF3D4B09BA}"/>
              </a:ext>
            </a:extLst>
          </p:cNvPr>
          <p:cNvGrpSpPr/>
          <p:nvPr/>
        </p:nvGrpSpPr>
        <p:grpSpPr>
          <a:xfrm>
            <a:off x="442723" y="1844944"/>
            <a:ext cx="2198136" cy="1355375"/>
            <a:chOff x="1259150" y="1597470"/>
            <a:chExt cx="3284324" cy="2025122"/>
          </a:xfrm>
        </p:grpSpPr>
        <p:grpSp>
          <p:nvGrpSpPr>
            <p:cNvPr id="11" name="群組 10">
              <a:extLst>
                <a:ext uri="{FF2B5EF4-FFF2-40B4-BE49-F238E27FC236}">
                  <a16:creationId xmlns:a16="http://schemas.microsoft.com/office/drawing/2014/main" id="{3E844359-CDE0-7D16-2C5F-03282B51083E}"/>
                </a:ext>
              </a:extLst>
            </p:cNvPr>
            <p:cNvGrpSpPr/>
            <p:nvPr/>
          </p:nvGrpSpPr>
          <p:grpSpPr>
            <a:xfrm>
              <a:off x="1306287" y="1597470"/>
              <a:ext cx="3069772" cy="1525021"/>
              <a:chOff x="1861457" y="2250613"/>
              <a:chExt cx="4234543" cy="2103664"/>
            </a:xfrm>
          </p:grpSpPr>
          <p:pic>
            <p:nvPicPr>
              <p:cNvPr id="6" name="圖片 5">
                <a:extLst>
                  <a:ext uri="{FF2B5EF4-FFF2-40B4-BE49-F238E27FC236}">
                    <a16:creationId xmlns:a16="http://schemas.microsoft.com/office/drawing/2014/main" id="{39702650-7517-37D8-F5EB-527B1B7B9AF6}"/>
                  </a:ext>
                </a:extLst>
              </p:cNvPr>
              <p:cNvPicPr>
                <a:picLocks noChangeAspect="1"/>
              </p:cNvPicPr>
              <p:nvPr/>
            </p:nvPicPr>
            <p:blipFill>
              <a:blip r:embed="rId2"/>
              <a:stretch>
                <a:fillRect/>
              </a:stretch>
            </p:blipFill>
            <p:spPr>
              <a:xfrm>
                <a:off x="1861457" y="2250613"/>
                <a:ext cx="1049681" cy="2103664"/>
              </a:xfrm>
              <a:prstGeom prst="rect">
                <a:avLst/>
              </a:prstGeom>
            </p:spPr>
          </p:pic>
          <p:sp>
            <p:nvSpPr>
              <p:cNvPr id="4" name="文字方塊 3">
                <a:extLst>
                  <a:ext uri="{FF2B5EF4-FFF2-40B4-BE49-F238E27FC236}">
                    <a16:creationId xmlns:a16="http://schemas.microsoft.com/office/drawing/2014/main" id="{3EDF0EA2-0157-F500-19B7-E540DB2511FB}"/>
                  </a:ext>
                </a:extLst>
              </p:cNvPr>
              <p:cNvSpPr txBox="1"/>
              <p:nvPr/>
            </p:nvSpPr>
            <p:spPr>
              <a:xfrm>
                <a:off x="2086940" y="2405743"/>
                <a:ext cx="598715" cy="761218"/>
              </a:xfrm>
              <a:prstGeom prst="rect">
                <a:avLst/>
              </a:prstGeom>
              <a:noFill/>
            </p:spPr>
            <p:txBody>
              <a:bodyPr wrap="square" rtlCol="0">
                <a:spAutoFit/>
              </a:bodyPr>
              <a:lstStyle/>
              <a:p>
                <a:pPr algn="ctr"/>
                <a:r>
                  <a:rPr kumimoji="1" lang="en-US" altLang="zh-TW" b="1" dirty="0"/>
                  <a:t>A</a:t>
                </a:r>
                <a:endParaRPr kumimoji="1" lang="zh-TW" altLang="en-US" b="1" dirty="0"/>
              </a:p>
            </p:txBody>
          </p:sp>
          <p:pic>
            <p:nvPicPr>
              <p:cNvPr id="7" name="圖片 6">
                <a:extLst>
                  <a:ext uri="{FF2B5EF4-FFF2-40B4-BE49-F238E27FC236}">
                    <a16:creationId xmlns:a16="http://schemas.microsoft.com/office/drawing/2014/main" id="{61612286-2C80-9021-2BAC-95A583B67212}"/>
                  </a:ext>
                </a:extLst>
              </p:cNvPr>
              <p:cNvPicPr>
                <a:picLocks noChangeAspect="1"/>
              </p:cNvPicPr>
              <p:nvPr/>
            </p:nvPicPr>
            <p:blipFill>
              <a:blip r:embed="rId2"/>
              <a:stretch>
                <a:fillRect/>
              </a:stretch>
            </p:blipFill>
            <p:spPr>
              <a:xfrm>
                <a:off x="3494314" y="2250613"/>
                <a:ext cx="1049681" cy="2103664"/>
              </a:xfrm>
              <a:prstGeom prst="rect">
                <a:avLst/>
              </a:prstGeom>
            </p:spPr>
          </p:pic>
          <p:sp>
            <p:nvSpPr>
              <p:cNvPr id="8" name="文字方塊 7">
                <a:extLst>
                  <a:ext uri="{FF2B5EF4-FFF2-40B4-BE49-F238E27FC236}">
                    <a16:creationId xmlns:a16="http://schemas.microsoft.com/office/drawing/2014/main" id="{949DB34F-8889-06E0-4E50-4356168172D1}"/>
                  </a:ext>
                </a:extLst>
              </p:cNvPr>
              <p:cNvSpPr txBox="1"/>
              <p:nvPr/>
            </p:nvSpPr>
            <p:spPr>
              <a:xfrm>
                <a:off x="3719797" y="2405743"/>
                <a:ext cx="598715" cy="761218"/>
              </a:xfrm>
              <a:prstGeom prst="rect">
                <a:avLst/>
              </a:prstGeom>
              <a:noFill/>
            </p:spPr>
            <p:txBody>
              <a:bodyPr wrap="square" rtlCol="0">
                <a:spAutoFit/>
              </a:bodyPr>
              <a:lstStyle/>
              <a:p>
                <a:pPr algn="ctr"/>
                <a:r>
                  <a:rPr kumimoji="1" lang="en-US" altLang="zh-TW" b="1" dirty="0"/>
                  <a:t>B</a:t>
                </a:r>
                <a:endParaRPr kumimoji="1" lang="zh-TW" altLang="en-US" b="1" dirty="0"/>
              </a:p>
            </p:txBody>
          </p:sp>
          <p:pic>
            <p:nvPicPr>
              <p:cNvPr id="9" name="圖片 8">
                <a:extLst>
                  <a:ext uri="{FF2B5EF4-FFF2-40B4-BE49-F238E27FC236}">
                    <a16:creationId xmlns:a16="http://schemas.microsoft.com/office/drawing/2014/main" id="{93735951-C87B-AD8D-32FC-25AF4C0F0730}"/>
                  </a:ext>
                </a:extLst>
              </p:cNvPr>
              <p:cNvPicPr>
                <a:picLocks noChangeAspect="1"/>
              </p:cNvPicPr>
              <p:nvPr/>
            </p:nvPicPr>
            <p:blipFill>
              <a:blip r:embed="rId2"/>
              <a:stretch>
                <a:fillRect/>
              </a:stretch>
            </p:blipFill>
            <p:spPr>
              <a:xfrm>
                <a:off x="5046319" y="2250613"/>
                <a:ext cx="1049681" cy="2103664"/>
              </a:xfrm>
              <a:prstGeom prst="rect">
                <a:avLst/>
              </a:prstGeom>
            </p:spPr>
          </p:pic>
          <p:sp>
            <p:nvSpPr>
              <p:cNvPr id="10" name="文字方塊 9">
                <a:extLst>
                  <a:ext uri="{FF2B5EF4-FFF2-40B4-BE49-F238E27FC236}">
                    <a16:creationId xmlns:a16="http://schemas.microsoft.com/office/drawing/2014/main" id="{CA769727-1AC8-0103-5F4D-C58AD24B07C1}"/>
                  </a:ext>
                </a:extLst>
              </p:cNvPr>
              <p:cNvSpPr txBox="1"/>
              <p:nvPr/>
            </p:nvSpPr>
            <p:spPr>
              <a:xfrm>
                <a:off x="5271802" y="2405743"/>
                <a:ext cx="598715" cy="761218"/>
              </a:xfrm>
              <a:prstGeom prst="rect">
                <a:avLst/>
              </a:prstGeom>
              <a:noFill/>
            </p:spPr>
            <p:txBody>
              <a:bodyPr wrap="square" rtlCol="0">
                <a:spAutoFit/>
              </a:bodyPr>
              <a:lstStyle/>
              <a:p>
                <a:pPr algn="ctr"/>
                <a:r>
                  <a:rPr kumimoji="1" lang="en-US" altLang="zh-TW" b="1" dirty="0"/>
                  <a:t>C</a:t>
                </a:r>
                <a:endParaRPr kumimoji="1" lang="zh-TW" altLang="en-US" b="1" dirty="0"/>
              </a:p>
            </p:txBody>
          </p:sp>
        </p:grpSp>
        <p:sp>
          <p:nvSpPr>
            <p:cNvPr id="12" name="文字方塊 11">
              <a:extLst>
                <a:ext uri="{FF2B5EF4-FFF2-40B4-BE49-F238E27FC236}">
                  <a16:creationId xmlns:a16="http://schemas.microsoft.com/office/drawing/2014/main" id="{EB7F7CBD-9B49-691A-27D8-616B2B3C5FD5}"/>
                </a:ext>
              </a:extLst>
            </p:cNvPr>
            <p:cNvSpPr txBox="1"/>
            <p:nvPr/>
          </p:nvSpPr>
          <p:spPr>
            <a:xfrm>
              <a:off x="1259150" y="3208716"/>
              <a:ext cx="872300" cy="413876"/>
            </a:xfrm>
            <a:prstGeom prst="rect">
              <a:avLst/>
            </a:prstGeom>
            <a:noFill/>
          </p:spPr>
          <p:txBody>
            <a:bodyPr wrap="none" rtlCol="0">
              <a:spAutoFit/>
            </a:bodyPr>
            <a:lstStyle/>
            <a:p>
              <a:r>
                <a:rPr kumimoji="1" lang="en-US" altLang="zh-TW" sz="1200" dirty="0"/>
                <a:t>100</a:t>
              </a:r>
              <a:r>
                <a:rPr kumimoji="1" lang="zh-TW" altLang="en-US" sz="1200" dirty="0"/>
                <a:t>元</a:t>
              </a:r>
            </a:p>
          </p:txBody>
        </p:sp>
        <p:sp>
          <p:nvSpPr>
            <p:cNvPr id="13" name="文字方塊 12">
              <a:extLst>
                <a:ext uri="{FF2B5EF4-FFF2-40B4-BE49-F238E27FC236}">
                  <a16:creationId xmlns:a16="http://schemas.microsoft.com/office/drawing/2014/main" id="{3689B6C6-B8B6-FC78-0D5D-9F5666930C63}"/>
                </a:ext>
              </a:extLst>
            </p:cNvPr>
            <p:cNvSpPr txBox="1"/>
            <p:nvPr/>
          </p:nvSpPr>
          <p:spPr>
            <a:xfrm>
              <a:off x="2465162" y="3208716"/>
              <a:ext cx="872300" cy="413876"/>
            </a:xfrm>
            <a:prstGeom prst="rect">
              <a:avLst/>
            </a:prstGeom>
            <a:noFill/>
          </p:spPr>
          <p:txBody>
            <a:bodyPr wrap="none" rtlCol="0">
              <a:spAutoFit/>
            </a:bodyPr>
            <a:lstStyle/>
            <a:p>
              <a:r>
                <a:rPr kumimoji="1" lang="en-US" altLang="zh-TW" sz="1200" dirty="0"/>
                <a:t>200</a:t>
              </a:r>
              <a:r>
                <a:rPr kumimoji="1" lang="zh-TW" altLang="en-US" sz="1200" dirty="0"/>
                <a:t>元</a:t>
              </a:r>
            </a:p>
          </p:txBody>
        </p:sp>
        <p:sp>
          <p:nvSpPr>
            <p:cNvPr id="14" name="文字方塊 13">
              <a:extLst>
                <a:ext uri="{FF2B5EF4-FFF2-40B4-BE49-F238E27FC236}">
                  <a16:creationId xmlns:a16="http://schemas.microsoft.com/office/drawing/2014/main" id="{75064EE7-2DE6-0B19-D2DC-C45CABCF6265}"/>
                </a:ext>
              </a:extLst>
            </p:cNvPr>
            <p:cNvSpPr txBox="1"/>
            <p:nvPr/>
          </p:nvSpPr>
          <p:spPr>
            <a:xfrm>
              <a:off x="3671174" y="3208716"/>
              <a:ext cx="872300" cy="413876"/>
            </a:xfrm>
            <a:prstGeom prst="rect">
              <a:avLst/>
            </a:prstGeom>
            <a:noFill/>
          </p:spPr>
          <p:txBody>
            <a:bodyPr wrap="none" rtlCol="0">
              <a:spAutoFit/>
            </a:bodyPr>
            <a:lstStyle/>
            <a:p>
              <a:r>
                <a:rPr kumimoji="1" lang="en-US" altLang="zh-TW" sz="1200" dirty="0"/>
                <a:t>300</a:t>
              </a:r>
              <a:r>
                <a:rPr kumimoji="1" lang="zh-TW" altLang="en-US" sz="1200" dirty="0"/>
                <a:t>元</a:t>
              </a:r>
            </a:p>
          </p:txBody>
        </p:sp>
      </p:grpSp>
      <p:sp>
        <p:nvSpPr>
          <p:cNvPr id="15" name="向右箭號 14">
            <a:extLst>
              <a:ext uri="{FF2B5EF4-FFF2-40B4-BE49-F238E27FC236}">
                <a16:creationId xmlns:a16="http://schemas.microsoft.com/office/drawing/2014/main" id="{94DF43E5-B858-3B1A-0A8A-CC591522D8C9}"/>
              </a:ext>
            </a:extLst>
          </p:cNvPr>
          <p:cNvSpPr/>
          <p:nvPr/>
        </p:nvSpPr>
        <p:spPr>
          <a:xfrm>
            <a:off x="2960914" y="2334722"/>
            <a:ext cx="544286" cy="3540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18" name="圖片 17">
            <a:extLst>
              <a:ext uri="{FF2B5EF4-FFF2-40B4-BE49-F238E27FC236}">
                <a16:creationId xmlns:a16="http://schemas.microsoft.com/office/drawing/2014/main" id="{38A6350B-7111-2845-6AFC-D6F4D8A86658}"/>
              </a:ext>
            </a:extLst>
          </p:cNvPr>
          <p:cNvPicPr>
            <a:picLocks noChangeAspect="1"/>
          </p:cNvPicPr>
          <p:nvPr/>
        </p:nvPicPr>
        <p:blipFill>
          <a:blip r:embed="rId3"/>
          <a:stretch>
            <a:fillRect/>
          </a:stretch>
        </p:blipFill>
        <p:spPr>
          <a:xfrm>
            <a:off x="3913529" y="1690688"/>
            <a:ext cx="2135414" cy="1573264"/>
          </a:xfrm>
          <a:prstGeom prst="rect">
            <a:avLst/>
          </a:prstGeom>
        </p:spPr>
      </p:pic>
      <p:sp>
        <p:nvSpPr>
          <p:cNvPr id="19" name="文字方塊 18">
            <a:extLst>
              <a:ext uri="{FF2B5EF4-FFF2-40B4-BE49-F238E27FC236}">
                <a16:creationId xmlns:a16="http://schemas.microsoft.com/office/drawing/2014/main" id="{1CE3991F-C9EB-534D-A689-290B127FE3C9}"/>
              </a:ext>
            </a:extLst>
          </p:cNvPr>
          <p:cNvSpPr txBox="1"/>
          <p:nvPr/>
        </p:nvSpPr>
        <p:spPr>
          <a:xfrm>
            <a:off x="3962367" y="3278554"/>
            <a:ext cx="2037738" cy="707886"/>
          </a:xfrm>
          <a:prstGeom prst="rect">
            <a:avLst/>
          </a:prstGeom>
          <a:noFill/>
        </p:spPr>
        <p:txBody>
          <a:bodyPr wrap="none" rtlCol="0">
            <a:spAutoFit/>
          </a:bodyPr>
          <a:lstStyle/>
          <a:p>
            <a:pPr algn="ctr"/>
            <a:r>
              <a:rPr kumimoji="1" lang="zh-TW" altLang="en-US" sz="2000" dirty="0">
                <a:latin typeface="Microsoft JhengHei" panose="020B0604030504040204" pitchFamily="34" charset="-120"/>
                <a:ea typeface="Microsoft JhengHei" panose="020B0604030504040204" pitchFamily="34" charset="-120"/>
              </a:rPr>
              <a:t>公司</a:t>
            </a:r>
            <a:endParaRPr kumimoji="1" lang="en-US" altLang="zh-TW" sz="2000" dirty="0">
              <a:latin typeface="Microsoft JhengHei" panose="020B0604030504040204" pitchFamily="34" charset="-120"/>
              <a:ea typeface="Microsoft JhengHei" panose="020B0604030504040204" pitchFamily="34" charset="-120"/>
            </a:endParaRPr>
          </a:p>
          <a:p>
            <a:pPr algn="ctr"/>
            <a:r>
              <a:rPr kumimoji="1" lang="zh-TW" altLang="en-US" sz="2000" dirty="0">
                <a:latin typeface="Microsoft JhengHei" panose="020B0604030504040204" pitchFamily="34" charset="-120"/>
                <a:ea typeface="Microsoft JhengHei" panose="020B0604030504040204" pitchFamily="34" charset="-120"/>
              </a:rPr>
              <a:t>創始資金</a:t>
            </a:r>
            <a:r>
              <a:rPr kumimoji="1" lang="en-US" altLang="zh-TW" sz="2000" dirty="0">
                <a:latin typeface="Microsoft JhengHei" panose="020B0604030504040204" pitchFamily="34" charset="-120"/>
                <a:ea typeface="Microsoft JhengHei" panose="020B0604030504040204" pitchFamily="34" charset="-120"/>
              </a:rPr>
              <a:t>: 600</a:t>
            </a:r>
            <a:r>
              <a:rPr kumimoji="1" lang="zh-TW" altLang="en-US" sz="2000" dirty="0">
                <a:latin typeface="Microsoft JhengHei" panose="020B0604030504040204" pitchFamily="34" charset="-120"/>
                <a:ea typeface="Microsoft JhengHei" panose="020B0604030504040204" pitchFamily="34" charset="-120"/>
              </a:rPr>
              <a:t>元</a:t>
            </a:r>
          </a:p>
        </p:txBody>
      </p:sp>
      <p:sp>
        <p:nvSpPr>
          <p:cNvPr id="40" name="向右箭號 39">
            <a:extLst>
              <a:ext uri="{FF2B5EF4-FFF2-40B4-BE49-F238E27FC236}">
                <a16:creationId xmlns:a16="http://schemas.microsoft.com/office/drawing/2014/main" id="{2FBEF2AC-0A6D-7749-7AA6-C00FA95B22FE}"/>
              </a:ext>
            </a:extLst>
          </p:cNvPr>
          <p:cNvSpPr/>
          <p:nvPr/>
        </p:nvSpPr>
        <p:spPr>
          <a:xfrm>
            <a:off x="6645843" y="2355277"/>
            <a:ext cx="544286" cy="3540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1" name="文字方塊 40">
            <a:extLst>
              <a:ext uri="{FF2B5EF4-FFF2-40B4-BE49-F238E27FC236}">
                <a16:creationId xmlns:a16="http://schemas.microsoft.com/office/drawing/2014/main" id="{07C466BE-72E1-F63B-76B8-E104262F4733}"/>
              </a:ext>
            </a:extLst>
          </p:cNvPr>
          <p:cNvSpPr txBox="1"/>
          <p:nvPr/>
        </p:nvSpPr>
        <p:spPr>
          <a:xfrm>
            <a:off x="7361626" y="2225973"/>
            <a:ext cx="3148619" cy="707886"/>
          </a:xfrm>
          <a:prstGeom prst="rect">
            <a:avLst/>
          </a:prstGeom>
          <a:noFill/>
        </p:spPr>
        <p:txBody>
          <a:bodyPr wrap="none" rtlCol="0">
            <a:spAutoFit/>
          </a:bodyPr>
          <a:lstStyle/>
          <a:p>
            <a:pPr algn="ctr"/>
            <a:r>
              <a:rPr kumimoji="1" lang="zh-TW" altLang="en-US" sz="2000" dirty="0">
                <a:latin typeface="Microsoft JhengHei" panose="020B0604030504040204" pitchFamily="34" charset="-120"/>
                <a:ea typeface="Microsoft JhengHei" panose="020B0604030504040204" pitchFamily="34" charset="-120"/>
              </a:rPr>
              <a:t>經過一段時間經營，</a:t>
            </a:r>
            <a:endParaRPr kumimoji="1" lang="en-US" altLang="zh-TW" sz="2000" dirty="0">
              <a:latin typeface="Microsoft JhengHei" panose="020B0604030504040204" pitchFamily="34" charset="-120"/>
              <a:ea typeface="Microsoft JhengHei" panose="020B0604030504040204" pitchFamily="34" charset="-120"/>
            </a:endParaRPr>
          </a:p>
          <a:p>
            <a:pPr algn="ctr"/>
            <a:r>
              <a:rPr kumimoji="1" lang="zh-TW" altLang="en-US" sz="2000" dirty="0">
                <a:latin typeface="Microsoft JhengHei" panose="020B0604030504040204" pitchFamily="34" charset="-120"/>
                <a:ea typeface="Microsoft JhengHei" panose="020B0604030504040204" pitchFamily="34" charset="-120"/>
              </a:rPr>
              <a:t>公司資金成長為：</a:t>
            </a:r>
            <a:r>
              <a:rPr kumimoji="1" lang="en-US" altLang="zh-TW" sz="2000" dirty="0">
                <a:latin typeface="Microsoft JhengHei" panose="020B0604030504040204" pitchFamily="34" charset="-120"/>
                <a:ea typeface="Microsoft JhengHei" panose="020B0604030504040204" pitchFamily="34" charset="-120"/>
              </a:rPr>
              <a:t>6,000</a:t>
            </a:r>
            <a:r>
              <a:rPr kumimoji="1" lang="zh-TW" altLang="en-US" sz="2000" dirty="0">
                <a:latin typeface="Microsoft JhengHei" panose="020B0604030504040204" pitchFamily="34" charset="-120"/>
                <a:ea typeface="Microsoft JhengHei" panose="020B0604030504040204" pitchFamily="34" charset="-120"/>
              </a:rPr>
              <a:t>元</a:t>
            </a:r>
          </a:p>
        </p:txBody>
      </p:sp>
      <p:sp>
        <p:nvSpPr>
          <p:cNvPr id="42" name="向右箭號 41">
            <a:extLst>
              <a:ext uri="{FF2B5EF4-FFF2-40B4-BE49-F238E27FC236}">
                <a16:creationId xmlns:a16="http://schemas.microsoft.com/office/drawing/2014/main" id="{875C1EA2-35EF-0BC5-E223-F84A35FB50DB}"/>
              </a:ext>
            </a:extLst>
          </p:cNvPr>
          <p:cNvSpPr/>
          <p:nvPr/>
        </p:nvSpPr>
        <p:spPr>
          <a:xfrm rot="5400000">
            <a:off x="8688033" y="3251976"/>
            <a:ext cx="544286" cy="3540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3" name="文字方塊 42">
            <a:extLst>
              <a:ext uri="{FF2B5EF4-FFF2-40B4-BE49-F238E27FC236}">
                <a16:creationId xmlns:a16="http://schemas.microsoft.com/office/drawing/2014/main" id="{655F00EB-CC7C-ADC2-B1F8-842C38E00139}"/>
              </a:ext>
            </a:extLst>
          </p:cNvPr>
          <p:cNvSpPr txBox="1"/>
          <p:nvPr/>
        </p:nvSpPr>
        <p:spPr>
          <a:xfrm>
            <a:off x="9110153" y="3187634"/>
            <a:ext cx="1210589" cy="400110"/>
          </a:xfrm>
          <a:prstGeom prst="rect">
            <a:avLst/>
          </a:prstGeom>
          <a:noFill/>
        </p:spPr>
        <p:txBody>
          <a:bodyPr wrap="none" rtlCol="0">
            <a:spAutoFit/>
          </a:bodyPr>
          <a:lstStyle/>
          <a:p>
            <a:pPr algn="ctr"/>
            <a:r>
              <a:rPr kumimoji="1" lang="zh-TW" altLang="en-US" sz="2000" dirty="0">
                <a:latin typeface="Microsoft JhengHei" panose="020B0604030504040204" pitchFamily="34" charset="-120"/>
                <a:ea typeface="Microsoft JhengHei" panose="020B0604030504040204" pitchFamily="34" charset="-120"/>
              </a:rPr>
              <a:t>清算公司</a:t>
            </a:r>
          </a:p>
        </p:txBody>
      </p:sp>
      <p:grpSp>
        <p:nvGrpSpPr>
          <p:cNvPr id="44" name="群組 43">
            <a:extLst>
              <a:ext uri="{FF2B5EF4-FFF2-40B4-BE49-F238E27FC236}">
                <a16:creationId xmlns:a16="http://schemas.microsoft.com/office/drawing/2014/main" id="{56FE92E1-2AB6-5C04-BFFD-AC2FCD3D0EE1}"/>
              </a:ext>
            </a:extLst>
          </p:cNvPr>
          <p:cNvGrpSpPr/>
          <p:nvPr/>
        </p:nvGrpSpPr>
        <p:grpSpPr>
          <a:xfrm>
            <a:off x="7836866" y="4174513"/>
            <a:ext cx="2279889" cy="1355375"/>
            <a:chOff x="1259150" y="1597470"/>
            <a:chExt cx="3406475" cy="2025122"/>
          </a:xfrm>
        </p:grpSpPr>
        <p:grpSp>
          <p:nvGrpSpPr>
            <p:cNvPr id="45" name="群組 44">
              <a:extLst>
                <a:ext uri="{FF2B5EF4-FFF2-40B4-BE49-F238E27FC236}">
                  <a16:creationId xmlns:a16="http://schemas.microsoft.com/office/drawing/2014/main" id="{90A63055-5791-0802-140D-59BFDF228536}"/>
                </a:ext>
              </a:extLst>
            </p:cNvPr>
            <p:cNvGrpSpPr/>
            <p:nvPr/>
          </p:nvGrpSpPr>
          <p:grpSpPr>
            <a:xfrm>
              <a:off x="1306287" y="1597470"/>
              <a:ext cx="3069772" cy="1525021"/>
              <a:chOff x="1861457" y="2250613"/>
              <a:chExt cx="4234543" cy="2103664"/>
            </a:xfrm>
          </p:grpSpPr>
          <p:pic>
            <p:nvPicPr>
              <p:cNvPr id="49" name="圖片 48">
                <a:extLst>
                  <a:ext uri="{FF2B5EF4-FFF2-40B4-BE49-F238E27FC236}">
                    <a16:creationId xmlns:a16="http://schemas.microsoft.com/office/drawing/2014/main" id="{5D528B3F-0289-EDC1-7009-30E9B8A2F5C0}"/>
                  </a:ext>
                </a:extLst>
              </p:cNvPr>
              <p:cNvPicPr>
                <a:picLocks noChangeAspect="1"/>
              </p:cNvPicPr>
              <p:nvPr/>
            </p:nvPicPr>
            <p:blipFill>
              <a:blip r:embed="rId2"/>
              <a:stretch>
                <a:fillRect/>
              </a:stretch>
            </p:blipFill>
            <p:spPr>
              <a:xfrm>
                <a:off x="1861457" y="2250613"/>
                <a:ext cx="1049681" cy="2103664"/>
              </a:xfrm>
              <a:prstGeom prst="rect">
                <a:avLst/>
              </a:prstGeom>
            </p:spPr>
          </p:pic>
          <p:sp>
            <p:nvSpPr>
              <p:cNvPr id="50" name="文字方塊 49">
                <a:extLst>
                  <a:ext uri="{FF2B5EF4-FFF2-40B4-BE49-F238E27FC236}">
                    <a16:creationId xmlns:a16="http://schemas.microsoft.com/office/drawing/2014/main" id="{518054EA-1A8B-7187-F81F-6458AE8FD263}"/>
                  </a:ext>
                </a:extLst>
              </p:cNvPr>
              <p:cNvSpPr txBox="1"/>
              <p:nvPr/>
            </p:nvSpPr>
            <p:spPr>
              <a:xfrm>
                <a:off x="2086940" y="2405743"/>
                <a:ext cx="598715" cy="761218"/>
              </a:xfrm>
              <a:prstGeom prst="rect">
                <a:avLst/>
              </a:prstGeom>
              <a:noFill/>
            </p:spPr>
            <p:txBody>
              <a:bodyPr wrap="square" rtlCol="0">
                <a:spAutoFit/>
              </a:bodyPr>
              <a:lstStyle/>
              <a:p>
                <a:pPr algn="ctr"/>
                <a:r>
                  <a:rPr kumimoji="1" lang="en-US" altLang="zh-TW" b="1" dirty="0"/>
                  <a:t>A</a:t>
                </a:r>
                <a:endParaRPr kumimoji="1" lang="zh-TW" altLang="en-US" b="1" dirty="0"/>
              </a:p>
            </p:txBody>
          </p:sp>
          <p:pic>
            <p:nvPicPr>
              <p:cNvPr id="51" name="圖片 50">
                <a:extLst>
                  <a:ext uri="{FF2B5EF4-FFF2-40B4-BE49-F238E27FC236}">
                    <a16:creationId xmlns:a16="http://schemas.microsoft.com/office/drawing/2014/main" id="{4C8AF9A2-F2F7-AE4D-3C8B-FBEE142C6FD4}"/>
                  </a:ext>
                </a:extLst>
              </p:cNvPr>
              <p:cNvPicPr>
                <a:picLocks noChangeAspect="1"/>
              </p:cNvPicPr>
              <p:nvPr/>
            </p:nvPicPr>
            <p:blipFill>
              <a:blip r:embed="rId2"/>
              <a:stretch>
                <a:fillRect/>
              </a:stretch>
            </p:blipFill>
            <p:spPr>
              <a:xfrm>
                <a:off x="3494314" y="2250613"/>
                <a:ext cx="1049681" cy="2103664"/>
              </a:xfrm>
              <a:prstGeom prst="rect">
                <a:avLst/>
              </a:prstGeom>
            </p:spPr>
          </p:pic>
          <p:sp>
            <p:nvSpPr>
              <p:cNvPr id="52" name="文字方塊 51">
                <a:extLst>
                  <a:ext uri="{FF2B5EF4-FFF2-40B4-BE49-F238E27FC236}">
                    <a16:creationId xmlns:a16="http://schemas.microsoft.com/office/drawing/2014/main" id="{D3776507-EE82-339E-6BB7-9708981CD49C}"/>
                  </a:ext>
                </a:extLst>
              </p:cNvPr>
              <p:cNvSpPr txBox="1"/>
              <p:nvPr/>
            </p:nvSpPr>
            <p:spPr>
              <a:xfrm>
                <a:off x="3719797" y="2405743"/>
                <a:ext cx="598715" cy="761218"/>
              </a:xfrm>
              <a:prstGeom prst="rect">
                <a:avLst/>
              </a:prstGeom>
              <a:noFill/>
            </p:spPr>
            <p:txBody>
              <a:bodyPr wrap="square" rtlCol="0">
                <a:spAutoFit/>
              </a:bodyPr>
              <a:lstStyle/>
              <a:p>
                <a:pPr algn="ctr"/>
                <a:r>
                  <a:rPr kumimoji="1" lang="en-US" altLang="zh-TW" b="1" dirty="0"/>
                  <a:t>B</a:t>
                </a:r>
                <a:endParaRPr kumimoji="1" lang="zh-TW" altLang="en-US" b="1" dirty="0"/>
              </a:p>
            </p:txBody>
          </p:sp>
          <p:pic>
            <p:nvPicPr>
              <p:cNvPr id="53" name="圖片 52">
                <a:extLst>
                  <a:ext uri="{FF2B5EF4-FFF2-40B4-BE49-F238E27FC236}">
                    <a16:creationId xmlns:a16="http://schemas.microsoft.com/office/drawing/2014/main" id="{BF1AD88A-1529-01EA-D112-091120E2B4B1}"/>
                  </a:ext>
                </a:extLst>
              </p:cNvPr>
              <p:cNvPicPr>
                <a:picLocks noChangeAspect="1"/>
              </p:cNvPicPr>
              <p:nvPr/>
            </p:nvPicPr>
            <p:blipFill>
              <a:blip r:embed="rId2"/>
              <a:stretch>
                <a:fillRect/>
              </a:stretch>
            </p:blipFill>
            <p:spPr>
              <a:xfrm>
                <a:off x="5046319" y="2250613"/>
                <a:ext cx="1049681" cy="2103664"/>
              </a:xfrm>
              <a:prstGeom prst="rect">
                <a:avLst/>
              </a:prstGeom>
            </p:spPr>
          </p:pic>
          <p:sp>
            <p:nvSpPr>
              <p:cNvPr id="54" name="文字方塊 53">
                <a:extLst>
                  <a:ext uri="{FF2B5EF4-FFF2-40B4-BE49-F238E27FC236}">
                    <a16:creationId xmlns:a16="http://schemas.microsoft.com/office/drawing/2014/main" id="{9B9EB6BA-9391-EC7B-7C33-94C78677865F}"/>
                  </a:ext>
                </a:extLst>
              </p:cNvPr>
              <p:cNvSpPr txBox="1"/>
              <p:nvPr/>
            </p:nvSpPr>
            <p:spPr>
              <a:xfrm>
                <a:off x="5271802" y="2405743"/>
                <a:ext cx="598715" cy="761218"/>
              </a:xfrm>
              <a:prstGeom prst="rect">
                <a:avLst/>
              </a:prstGeom>
              <a:noFill/>
            </p:spPr>
            <p:txBody>
              <a:bodyPr wrap="square" rtlCol="0">
                <a:spAutoFit/>
              </a:bodyPr>
              <a:lstStyle/>
              <a:p>
                <a:pPr algn="ctr"/>
                <a:r>
                  <a:rPr kumimoji="1" lang="en-US" altLang="zh-TW" b="1" dirty="0"/>
                  <a:t>C</a:t>
                </a:r>
                <a:endParaRPr kumimoji="1" lang="zh-TW" altLang="en-US" b="1" dirty="0"/>
              </a:p>
            </p:txBody>
          </p:sp>
        </p:grpSp>
        <p:sp>
          <p:nvSpPr>
            <p:cNvPr id="46" name="文字方塊 45">
              <a:extLst>
                <a:ext uri="{FF2B5EF4-FFF2-40B4-BE49-F238E27FC236}">
                  <a16:creationId xmlns:a16="http://schemas.microsoft.com/office/drawing/2014/main" id="{1DF5B40B-6B02-17AF-A547-F9E046B239A6}"/>
                </a:ext>
              </a:extLst>
            </p:cNvPr>
            <p:cNvSpPr txBox="1"/>
            <p:nvPr/>
          </p:nvSpPr>
          <p:spPr>
            <a:xfrm>
              <a:off x="1259150" y="3208716"/>
              <a:ext cx="994451" cy="413876"/>
            </a:xfrm>
            <a:prstGeom prst="rect">
              <a:avLst/>
            </a:prstGeom>
            <a:noFill/>
          </p:spPr>
          <p:txBody>
            <a:bodyPr wrap="none" rtlCol="0">
              <a:spAutoFit/>
            </a:bodyPr>
            <a:lstStyle/>
            <a:p>
              <a:r>
                <a:rPr kumimoji="1" lang="en-US" altLang="zh-TW" sz="1200" dirty="0">
                  <a:solidFill>
                    <a:srgbClr val="FF0000"/>
                  </a:solidFill>
                </a:rPr>
                <a:t>1000</a:t>
              </a:r>
              <a:r>
                <a:rPr kumimoji="1" lang="zh-TW" altLang="en-US" sz="1200" dirty="0">
                  <a:solidFill>
                    <a:srgbClr val="FF0000"/>
                  </a:solidFill>
                </a:rPr>
                <a:t>元</a:t>
              </a:r>
            </a:p>
          </p:txBody>
        </p:sp>
        <p:sp>
          <p:nvSpPr>
            <p:cNvPr id="47" name="文字方塊 46">
              <a:extLst>
                <a:ext uri="{FF2B5EF4-FFF2-40B4-BE49-F238E27FC236}">
                  <a16:creationId xmlns:a16="http://schemas.microsoft.com/office/drawing/2014/main" id="{54B4FA25-56F9-9605-AB50-F01C8DB9F767}"/>
                </a:ext>
              </a:extLst>
            </p:cNvPr>
            <p:cNvSpPr txBox="1"/>
            <p:nvPr/>
          </p:nvSpPr>
          <p:spPr>
            <a:xfrm>
              <a:off x="2465162" y="3208716"/>
              <a:ext cx="994451" cy="413876"/>
            </a:xfrm>
            <a:prstGeom prst="rect">
              <a:avLst/>
            </a:prstGeom>
            <a:noFill/>
          </p:spPr>
          <p:txBody>
            <a:bodyPr wrap="none" rtlCol="0">
              <a:spAutoFit/>
            </a:bodyPr>
            <a:lstStyle/>
            <a:p>
              <a:r>
                <a:rPr kumimoji="1" lang="en-US" altLang="zh-TW" sz="1200" dirty="0">
                  <a:solidFill>
                    <a:srgbClr val="FF0000"/>
                  </a:solidFill>
                </a:rPr>
                <a:t>2000</a:t>
              </a:r>
              <a:r>
                <a:rPr kumimoji="1" lang="zh-TW" altLang="en-US" sz="1200" dirty="0">
                  <a:solidFill>
                    <a:srgbClr val="FF0000"/>
                  </a:solidFill>
                </a:rPr>
                <a:t>元</a:t>
              </a:r>
            </a:p>
          </p:txBody>
        </p:sp>
        <p:sp>
          <p:nvSpPr>
            <p:cNvPr id="48" name="文字方塊 47">
              <a:extLst>
                <a:ext uri="{FF2B5EF4-FFF2-40B4-BE49-F238E27FC236}">
                  <a16:creationId xmlns:a16="http://schemas.microsoft.com/office/drawing/2014/main" id="{CFD566F2-0696-4914-88D2-F51A248F5CE9}"/>
                </a:ext>
              </a:extLst>
            </p:cNvPr>
            <p:cNvSpPr txBox="1"/>
            <p:nvPr/>
          </p:nvSpPr>
          <p:spPr>
            <a:xfrm>
              <a:off x="3671174" y="3208716"/>
              <a:ext cx="994451" cy="413876"/>
            </a:xfrm>
            <a:prstGeom prst="rect">
              <a:avLst/>
            </a:prstGeom>
            <a:noFill/>
          </p:spPr>
          <p:txBody>
            <a:bodyPr wrap="none" rtlCol="0">
              <a:spAutoFit/>
            </a:bodyPr>
            <a:lstStyle/>
            <a:p>
              <a:r>
                <a:rPr kumimoji="1" lang="en-US" altLang="zh-TW" sz="1200" dirty="0">
                  <a:solidFill>
                    <a:srgbClr val="FF0000"/>
                  </a:solidFill>
                </a:rPr>
                <a:t>3000</a:t>
              </a:r>
              <a:r>
                <a:rPr kumimoji="1" lang="zh-TW" altLang="en-US" sz="1200" dirty="0">
                  <a:solidFill>
                    <a:srgbClr val="FF0000"/>
                  </a:solidFill>
                </a:rPr>
                <a:t>元</a:t>
              </a:r>
            </a:p>
          </p:txBody>
        </p:sp>
      </p:grpSp>
      <p:sp>
        <p:nvSpPr>
          <p:cNvPr id="55" name="文字方塊 54">
            <a:extLst>
              <a:ext uri="{FF2B5EF4-FFF2-40B4-BE49-F238E27FC236}">
                <a16:creationId xmlns:a16="http://schemas.microsoft.com/office/drawing/2014/main" id="{71FC20F2-2AA7-9B88-7BAB-83101C5A0946}"/>
              </a:ext>
            </a:extLst>
          </p:cNvPr>
          <p:cNvSpPr txBox="1"/>
          <p:nvPr/>
        </p:nvSpPr>
        <p:spPr>
          <a:xfrm>
            <a:off x="7730318" y="5625007"/>
            <a:ext cx="2492990" cy="400110"/>
          </a:xfrm>
          <a:prstGeom prst="rect">
            <a:avLst/>
          </a:prstGeom>
          <a:noFill/>
        </p:spPr>
        <p:txBody>
          <a:bodyPr wrap="none" rtlCol="0">
            <a:spAutoFit/>
          </a:bodyPr>
          <a:lstStyle/>
          <a:p>
            <a:pPr algn="ctr"/>
            <a:r>
              <a:rPr kumimoji="1" lang="zh-TW" altLang="en-US" sz="2000" dirty="0">
                <a:latin typeface="Microsoft JhengHei" panose="020B0604030504040204" pitchFamily="34" charset="-120"/>
                <a:ea typeface="Microsoft JhengHei" panose="020B0604030504040204" pitchFamily="34" charset="-120"/>
              </a:rPr>
              <a:t>投資人依照比例拿回</a:t>
            </a:r>
          </a:p>
        </p:txBody>
      </p:sp>
    </p:spTree>
    <p:extLst>
      <p:ext uri="{BB962C8B-B14F-4D97-AF65-F5344CB8AC3E}">
        <p14:creationId xmlns:p14="http://schemas.microsoft.com/office/powerpoint/2010/main" val="38245612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圓柱 58">
            <a:extLst>
              <a:ext uri="{FF2B5EF4-FFF2-40B4-BE49-F238E27FC236}">
                <a16:creationId xmlns:a16="http://schemas.microsoft.com/office/drawing/2014/main" id="{982DADB0-C344-231C-11A8-9B949C5E8658}"/>
              </a:ext>
            </a:extLst>
          </p:cNvPr>
          <p:cNvSpPr/>
          <p:nvPr/>
        </p:nvSpPr>
        <p:spPr>
          <a:xfrm>
            <a:off x="7605730" y="1163482"/>
            <a:ext cx="1618794" cy="1216152"/>
          </a:xfrm>
          <a:prstGeom prst="ca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nvGrpSpPr>
          <p:cNvPr id="20" name="群組 19">
            <a:extLst>
              <a:ext uri="{FF2B5EF4-FFF2-40B4-BE49-F238E27FC236}">
                <a16:creationId xmlns:a16="http://schemas.microsoft.com/office/drawing/2014/main" id="{E858FE17-4E4C-F7C3-B5D0-B2FF3D4B09BA}"/>
              </a:ext>
            </a:extLst>
          </p:cNvPr>
          <p:cNvGrpSpPr/>
          <p:nvPr/>
        </p:nvGrpSpPr>
        <p:grpSpPr>
          <a:xfrm>
            <a:off x="399179" y="1224458"/>
            <a:ext cx="2198136" cy="1355375"/>
            <a:chOff x="1259150" y="1597470"/>
            <a:chExt cx="3284324" cy="2025122"/>
          </a:xfrm>
        </p:grpSpPr>
        <p:grpSp>
          <p:nvGrpSpPr>
            <p:cNvPr id="11" name="群組 10">
              <a:extLst>
                <a:ext uri="{FF2B5EF4-FFF2-40B4-BE49-F238E27FC236}">
                  <a16:creationId xmlns:a16="http://schemas.microsoft.com/office/drawing/2014/main" id="{3E844359-CDE0-7D16-2C5F-03282B51083E}"/>
                </a:ext>
              </a:extLst>
            </p:cNvPr>
            <p:cNvGrpSpPr/>
            <p:nvPr/>
          </p:nvGrpSpPr>
          <p:grpSpPr>
            <a:xfrm>
              <a:off x="1306287" y="1597470"/>
              <a:ext cx="3069772" cy="1525021"/>
              <a:chOff x="1861457" y="2250613"/>
              <a:chExt cx="4234543" cy="2103664"/>
            </a:xfrm>
          </p:grpSpPr>
          <p:pic>
            <p:nvPicPr>
              <p:cNvPr id="6" name="圖片 5">
                <a:extLst>
                  <a:ext uri="{FF2B5EF4-FFF2-40B4-BE49-F238E27FC236}">
                    <a16:creationId xmlns:a16="http://schemas.microsoft.com/office/drawing/2014/main" id="{39702650-7517-37D8-F5EB-527B1B7B9AF6}"/>
                  </a:ext>
                </a:extLst>
              </p:cNvPr>
              <p:cNvPicPr>
                <a:picLocks noChangeAspect="1"/>
              </p:cNvPicPr>
              <p:nvPr/>
            </p:nvPicPr>
            <p:blipFill>
              <a:blip r:embed="rId2"/>
              <a:stretch>
                <a:fillRect/>
              </a:stretch>
            </p:blipFill>
            <p:spPr>
              <a:xfrm>
                <a:off x="1861457" y="2250613"/>
                <a:ext cx="1049681" cy="2103664"/>
              </a:xfrm>
              <a:prstGeom prst="rect">
                <a:avLst/>
              </a:prstGeom>
            </p:spPr>
          </p:pic>
          <p:sp>
            <p:nvSpPr>
              <p:cNvPr id="4" name="文字方塊 3">
                <a:extLst>
                  <a:ext uri="{FF2B5EF4-FFF2-40B4-BE49-F238E27FC236}">
                    <a16:creationId xmlns:a16="http://schemas.microsoft.com/office/drawing/2014/main" id="{3EDF0EA2-0157-F500-19B7-E540DB2511FB}"/>
                  </a:ext>
                </a:extLst>
              </p:cNvPr>
              <p:cNvSpPr txBox="1"/>
              <p:nvPr/>
            </p:nvSpPr>
            <p:spPr>
              <a:xfrm>
                <a:off x="2086940" y="2405743"/>
                <a:ext cx="598715" cy="761218"/>
              </a:xfrm>
              <a:prstGeom prst="rect">
                <a:avLst/>
              </a:prstGeom>
              <a:noFill/>
            </p:spPr>
            <p:txBody>
              <a:bodyPr wrap="square" rtlCol="0">
                <a:spAutoFit/>
              </a:bodyPr>
              <a:lstStyle/>
              <a:p>
                <a:pPr algn="ctr"/>
                <a:r>
                  <a:rPr kumimoji="1" lang="en-US" altLang="zh-TW" b="1" dirty="0"/>
                  <a:t>A</a:t>
                </a:r>
                <a:endParaRPr kumimoji="1" lang="zh-TW" altLang="en-US" b="1" dirty="0"/>
              </a:p>
            </p:txBody>
          </p:sp>
          <p:pic>
            <p:nvPicPr>
              <p:cNvPr id="7" name="圖片 6">
                <a:extLst>
                  <a:ext uri="{FF2B5EF4-FFF2-40B4-BE49-F238E27FC236}">
                    <a16:creationId xmlns:a16="http://schemas.microsoft.com/office/drawing/2014/main" id="{61612286-2C80-9021-2BAC-95A583B67212}"/>
                  </a:ext>
                </a:extLst>
              </p:cNvPr>
              <p:cNvPicPr>
                <a:picLocks noChangeAspect="1"/>
              </p:cNvPicPr>
              <p:nvPr/>
            </p:nvPicPr>
            <p:blipFill>
              <a:blip r:embed="rId2"/>
              <a:stretch>
                <a:fillRect/>
              </a:stretch>
            </p:blipFill>
            <p:spPr>
              <a:xfrm>
                <a:off x="3494314" y="2250613"/>
                <a:ext cx="1049681" cy="2103664"/>
              </a:xfrm>
              <a:prstGeom prst="rect">
                <a:avLst/>
              </a:prstGeom>
            </p:spPr>
          </p:pic>
          <p:sp>
            <p:nvSpPr>
              <p:cNvPr id="8" name="文字方塊 7">
                <a:extLst>
                  <a:ext uri="{FF2B5EF4-FFF2-40B4-BE49-F238E27FC236}">
                    <a16:creationId xmlns:a16="http://schemas.microsoft.com/office/drawing/2014/main" id="{949DB34F-8889-06E0-4E50-4356168172D1}"/>
                  </a:ext>
                </a:extLst>
              </p:cNvPr>
              <p:cNvSpPr txBox="1"/>
              <p:nvPr/>
            </p:nvSpPr>
            <p:spPr>
              <a:xfrm>
                <a:off x="3719797" y="2405743"/>
                <a:ext cx="598715" cy="761218"/>
              </a:xfrm>
              <a:prstGeom prst="rect">
                <a:avLst/>
              </a:prstGeom>
              <a:noFill/>
            </p:spPr>
            <p:txBody>
              <a:bodyPr wrap="square" rtlCol="0">
                <a:spAutoFit/>
              </a:bodyPr>
              <a:lstStyle/>
              <a:p>
                <a:pPr algn="ctr"/>
                <a:r>
                  <a:rPr kumimoji="1" lang="en-US" altLang="zh-TW" b="1" dirty="0"/>
                  <a:t>B</a:t>
                </a:r>
                <a:endParaRPr kumimoji="1" lang="zh-TW" altLang="en-US" b="1" dirty="0"/>
              </a:p>
            </p:txBody>
          </p:sp>
          <p:pic>
            <p:nvPicPr>
              <p:cNvPr id="9" name="圖片 8">
                <a:extLst>
                  <a:ext uri="{FF2B5EF4-FFF2-40B4-BE49-F238E27FC236}">
                    <a16:creationId xmlns:a16="http://schemas.microsoft.com/office/drawing/2014/main" id="{93735951-C87B-AD8D-32FC-25AF4C0F0730}"/>
                  </a:ext>
                </a:extLst>
              </p:cNvPr>
              <p:cNvPicPr>
                <a:picLocks noChangeAspect="1"/>
              </p:cNvPicPr>
              <p:nvPr/>
            </p:nvPicPr>
            <p:blipFill>
              <a:blip r:embed="rId2"/>
              <a:stretch>
                <a:fillRect/>
              </a:stretch>
            </p:blipFill>
            <p:spPr>
              <a:xfrm>
                <a:off x="5046319" y="2250613"/>
                <a:ext cx="1049681" cy="2103664"/>
              </a:xfrm>
              <a:prstGeom prst="rect">
                <a:avLst/>
              </a:prstGeom>
            </p:spPr>
          </p:pic>
          <p:sp>
            <p:nvSpPr>
              <p:cNvPr id="10" name="文字方塊 9">
                <a:extLst>
                  <a:ext uri="{FF2B5EF4-FFF2-40B4-BE49-F238E27FC236}">
                    <a16:creationId xmlns:a16="http://schemas.microsoft.com/office/drawing/2014/main" id="{CA769727-1AC8-0103-5F4D-C58AD24B07C1}"/>
                  </a:ext>
                </a:extLst>
              </p:cNvPr>
              <p:cNvSpPr txBox="1"/>
              <p:nvPr/>
            </p:nvSpPr>
            <p:spPr>
              <a:xfrm>
                <a:off x="5271802" y="2405743"/>
                <a:ext cx="598715" cy="761218"/>
              </a:xfrm>
              <a:prstGeom prst="rect">
                <a:avLst/>
              </a:prstGeom>
              <a:noFill/>
            </p:spPr>
            <p:txBody>
              <a:bodyPr wrap="square" rtlCol="0">
                <a:spAutoFit/>
              </a:bodyPr>
              <a:lstStyle/>
              <a:p>
                <a:pPr algn="ctr"/>
                <a:r>
                  <a:rPr kumimoji="1" lang="en-US" altLang="zh-TW" b="1" dirty="0"/>
                  <a:t>C</a:t>
                </a:r>
                <a:endParaRPr kumimoji="1" lang="zh-TW" altLang="en-US" b="1" dirty="0"/>
              </a:p>
            </p:txBody>
          </p:sp>
        </p:grpSp>
        <p:sp>
          <p:nvSpPr>
            <p:cNvPr id="12" name="文字方塊 11">
              <a:extLst>
                <a:ext uri="{FF2B5EF4-FFF2-40B4-BE49-F238E27FC236}">
                  <a16:creationId xmlns:a16="http://schemas.microsoft.com/office/drawing/2014/main" id="{EB7F7CBD-9B49-691A-27D8-616B2B3C5FD5}"/>
                </a:ext>
              </a:extLst>
            </p:cNvPr>
            <p:cNvSpPr txBox="1"/>
            <p:nvPr/>
          </p:nvSpPr>
          <p:spPr>
            <a:xfrm>
              <a:off x="1259150" y="3208716"/>
              <a:ext cx="872300" cy="413876"/>
            </a:xfrm>
            <a:prstGeom prst="rect">
              <a:avLst/>
            </a:prstGeom>
            <a:noFill/>
          </p:spPr>
          <p:txBody>
            <a:bodyPr wrap="none" rtlCol="0">
              <a:spAutoFit/>
            </a:bodyPr>
            <a:lstStyle/>
            <a:p>
              <a:r>
                <a:rPr kumimoji="1" lang="en-US" altLang="zh-TW" sz="1200" dirty="0"/>
                <a:t>100</a:t>
              </a:r>
              <a:r>
                <a:rPr kumimoji="1" lang="zh-TW" altLang="en-US" sz="1200" dirty="0"/>
                <a:t>元</a:t>
              </a:r>
            </a:p>
          </p:txBody>
        </p:sp>
        <p:sp>
          <p:nvSpPr>
            <p:cNvPr id="13" name="文字方塊 12">
              <a:extLst>
                <a:ext uri="{FF2B5EF4-FFF2-40B4-BE49-F238E27FC236}">
                  <a16:creationId xmlns:a16="http://schemas.microsoft.com/office/drawing/2014/main" id="{3689B6C6-B8B6-FC78-0D5D-9F5666930C63}"/>
                </a:ext>
              </a:extLst>
            </p:cNvPr>
            <p:cNvSpPr txBox="1"/>
            <p:nvPr/>
          </p:nvSpPr>
          <p:spPr>
            <a:xfrm>
              <a:off x="2465162" y="3208716"/>
              <a:ext cx="872300" cy="413876"/>
            </a:xfrm>
            <a:prstGeom prst="rect">
              <a:avLst/>
            </a:prstGeom>
            <a:noFill/>
          </p:spPr>
          <p:txBody>
            <a:bodyPr wrap="none" rtlCol="0">
              <a:spAutoFit/>
            </a:bodyPr>
            <a:lstStyle/>
            <a:p>
              <a:r>
                <a:rPr kumimoji="1" lang="en-US" altLang="zh-TW" sz="1200" dirty="0"/>
                <a:t>200</a:t>
              </a:r>
              <a:r>
                <a:rPr kumimoji="1" lang="zh-TW" altLang="en-US" sz="1200" dirty="0"/>
                <a:t>元</a:t>
              </a:r>
            </a:p>
          </p:txBody>
        </p:sp>
        <p:sp>
          <p:nvSpPr>
            <p:cNvPr id="14" name="文字方塊 13">
              <a:extLst>
                <a:ext uri="{FF2B5EF4-FFF2-40B4-BE49-F238E27FC236}">
                  <a16:creationId xmlns:a16="http://schemas.microsoft.com/office/drawing/2014/main" id="{75064EE7-2DE6-0B19-D2DC-C45CABCF6265}"/>
                </a:ext>
              </a:extLst>
            </p:cNvPr>
            <p:cNvSpPr txBox="1"/>
            <p:nvPr/>
          </p:nvSpPr>
          <p:spPr>
            <a:xfrm>
              <a:off x="3671174" y="3208716"/>
              <a:ext cx="872300" cy="413876"/>
            </a:xfrm>
            <a:prstGeom prst="rect">
              <a:avLst/>
            </a:prstGeom>
            <a:noFill/>
          </p:spPr>
          <p:txBody>
            <a:bodyPr wrap="none" rtlCol="0">
              <a:spAutoFit/>
            </a:bodyPr>
            <a:lstStyle/>
            <a:p>
              <a:r>
                <a:rPr kumimoji="1" lang="en-US" altLang="zh-TW" sz="1200" dirty="0"/>
                <a:t>300</a:t>
              </a:r>
              <a:r>
                <a:rPr kumimoji="1" lang="zh-TW" altLang="en-US" sz="1200" dirty="0"/>
                <a:t>元</a:t>
              </a:r>
            </a:p>
          </p:txBody>
        </p:sp>
      </p:grpSp>
      <p:pic>
        <p:nvPicPr>
          <p:cNvPr id="18" name="圖片 17">
            <a:extLst>
              <a:ext uri="{FF2B5EF4-FFF2-40B4-BE49-F238E27FC236}">
                <a16:creationId xmlns:a16="http://schemas.microsoft.com/office/drawing/2014/main" id="{38A6350B-7111-2845-6AFC-D6F4D8A86658}"/>
              </a:ext>
            </a:extLst>
          </p:cNvPr>
          <p:cNvPicPr>
            <a:picLocks noChangeAspect="1"/>
          </p:cNvPicPr>
          <p:nvPr/>
        </p:nvPicPr>
        <p:blipFill>
          <a:blip r:embed="rId3"/>
          <a:stretch>
            <a:fillRect/>
          </a:stretch>
        </p:blipFill>
        <p:spPr>
          <a:xfrm>
            <a:off x="3170420" y="1050065"/>
            <a:ext cx="2135414" cy="1573264"/>
          </a:xfrm>
          <a:prstGeom prst="rect">
            <a:avLst/>
          </a:prstGeom>
        </p:spPr>
      </p:pic>
      <p:sp>
        <p:nvSpPr>
          <p:cNvPr id="19" name="文字方塊 18">
            <a:extLst>
              <a:ext uri="{FF2B5EF4-FFF2-40B4-BE49-F238E27FC236}">
                <a16:creationId xmlns:a16="http://schemas.microsoft.com/office/drawing/2014/main" id="{1CE3991F-C9EB-534D-A689-290B127FE3C9}"/>
              </a:ext>
            </a:extLst>
          </p:cNvPr>
          <p:cNvSpPr txBox="1"/>
          <p:nvPr/>
        </p:nvSpPr>
        <p:spPr>
          <a:xfrm>
            <a:off x="3187198" y="2569988"/>
            <a:ext cx="2101857" cy="400110"/>
          </a:xfrm>
          <a:prstGeom prst="rect">
            <a:avLst/>
          </a:prstGeom>
          <a:noFill/>
        </p:spPr>
        <p:txBody>
          <a:bodyPr wrap="none" rtlCol="0">
            <a:spAutoFit/>
          </a:bodyPr>
          <a:lstStyle/>
          <a:p>
            <a:pPr algn="ctr"/>
            <a:r>
              <a:rPr kumimoji="1" lang="zh-TW" altLang="en-US" sz="2000" dirty="0">
                <a:latin typeface="Microsoft JhengHei" panose="020B0604030504040204" pitchFamily="34" charset="-120"/>
                <a:ea typeface="Microsoft JhengHei" panose="020B0604030504040204" pitchFamily="34" charset="-120"/>
              </a:rPr>
              <a:t>銀行資金</a:t>
            </a:r>
            <a:r>
              <a:rPr kumimoji="1" lang="en-US" altLang="zh-TW" sz="2000" dirty="0">
                <a:latin typeface="Microsoft JhengHei" panose="020B0604030504040204" pitchFamily="34" charset="-120"/>
                <a:ea typeface="Microsoft JhengHei" panose="020B0604030504040204" pitchFamily="34" charset="-120"/>
              </a:rPr>
              <a:t>: 600</a:t>
            </a:r>
            <a:r>
              <a:rPr kumimoji="1" lang="zh-TW" altLang="en-US" sz="2000" dirty="0">
                <a:latin typeface="Microsoft JhengHei" panose="020B0604030504040204" pitchFamily="34" charset="-120"/>
                <a:ea typeface="Microsoft JhengHei" panose="020B0604030504040204" pitchFamily="34" charset="-120"/>
              </a:rPr>
              <a:t>元</a:t>
            </a:r>
          </a:p>
        </p:txBody>
      </p:sp>
      <p:grpSp>
        <p:nvGrpSpPr>
          <p:cNvPr id="39" name="群組 38">
            <a:extLst>
              <a:ext uri="{FF2B5EF4-FFF2-40B4-BE49-F238E27FC236}">
                <a16:creationId xmlns:a16="http://schemas.microsoft.com/office/drawing/2014/main" id="{CC1CF430-0268-0EC0-2B4C-482B48D9C332}"/>
              </a:ext>
            </a:extLst>
          </p:cNvPr>
          <p:cNvGrpSpPr/>
          <p:nvPr/>
        </p:nvGrpSpPr>
        <p:grpSpPr>
          <a:xfrm>
            <a:off x="5213479" y="4598344"/>
            <a:ext cx="1512442" cy="1744860"/>
            <a:chOff x="6515461" y="2001412"/>
            <a:chExt cx="1512442" cy="1679518"/>
          </a:xfrm>
        </p:grpSpPr>
        <p:pic>
          <p:nvPicPr>
            <p:cNvPr id="21" name="圖片 20">
              <a:extLst>
                <a:ext uri="{FF2B5EF4-FFF2-40B4-BE49-F238E27FC236}">
                  <a16:creationId xmlns:a16="http://schemas.microsoft.com/office/drawing/2014/main" id="{28B83D95-FA85-E9B5-A88F-B820D5C6FCB7}"/>
                </a:ext>
              </a:extLst>
            </p:cNvPr>
            <p:cNvPicPr>
              <a:picLocks noChangeAspect="1"/>
            </p:cNvPicPr>
            <p:nvPr/>
          </p:nvPicPr>
          <p:blipFill>
            <a:blip r:embed="rId2"/>
            <a:stretch>
              <a:fillRect/>
            </a:stretch>
          </p:blipFill>
          <p:spPr>
            <a:xfrm>
              <a:off x="6924371" y="2001412"/>
              <a:ext cx="342977" cy="687359"/>
            </a:xfrm>
            <a:prstGeom prst="rect">
              <a:avLst/>
            </a:prstGeom>
          </p:spPr>
        </p:pic>
        <p:pic>
          <p:nvPicPr>
            <p:cNvPr id="22" name="圖片 21">
              <a:extLst>
                <a:ext uri="{FF2B5EF4-FFF2-40B4-BE49-F238E27FC236}">
                  <a16:creationId xmlns:a16="http://schemas.microsoft.com/office/drawing/2014/main" id="{DE4C5E20-FC93-BF68-06CB-CDEFC68AC3CC}"/>
                </a:ext>
              </a:extLst>
            </p:cNvPr>
            <p:cNvPicPr>
              <a:picLocks noChangeAspect="1"/>
            </p:cNvPicPr>
            <p:nvPr/>
          </p:nvPicPr>
          <p:blipFill>
            <a:blip r:embed="rId2"/>
            <a:stretch>
              <a:fillRect/>
            </a:stretch>
          </p:blipFill>
          <p:spPr>
            <a:xfrm>
              <a:off x="7075326" y="2104877"/>
              <a:ext cx="342977" cy="687359"/>
            </a:xfrm>
            <a:prstGeom prst="rect">
              <a:avLst/>
            </a:prstGeom>
          </p:spPr>
        </p:pic>
        <p:pic>
          <p:nvPicPr>
            <p:cNvPr id="23" name="圖片 22">
              <a:extLst>
                <a:ext uri="{FF2B5EF4-FFF2-40B4-BE49-F238E27FC236}">
                  <a16:creationId xmlns:a16="http://schemas.microsoft.com/office/drawing/2014/main" id="{CD39BFF9-FAD8-EAA0-A782-90EEA451AB13}"/>
                </a:ext>
              </a:extLst>
            </p:cNvPr>
            <p:cNvPicPr>
              <a:picLocks noChangeAspect="1"/>
            </p:cNvPicPr>
            <p:nvPr/>
          </p:nvPicPr>
          <p:blipFill>
            <a:blip r:embed="rId2"/>
            <a:stretch>
              <a:fillRect/>
            </a:stretch>
          </p:blipFill>
          <p:spPr>
            <a:xfrm>
              <a:off x="7227726" y="2257277"/>
              <a:ext cx="342977" cy="687359"/>
            </a:xfrm>
            <a:prstGeom prst="rect">
              <a:avLst/>
            </a:prstGeom>
          </p:spPr>
        </p:pic>
        <p:pic>
          <p:nvPicPr>
            <p:cNvPr id="24" name="圖片 23">
              <a:extLst>
                <a:ext uri="{FF2B5EF4-FFF2-40B4-BE49-F238E27FC236}">
                  <a16:creationId xmlns:a16="http://schemas.microsoft.com/office/drawing/2014/main" id="{71A703E7-41C0-5439-24D4-8F64578F9316}"/>
                </a:ext>
              </a:extLst>
            </p:cNvPr>
            <p:cNvPicPr>
              <a:picLocks noChangeAspect="1"/>
            </p:cNvPicPr>
            <p:nvPr/>
          </p:nvPicPr>
          <p:blipFill>
            <a:blip r:embed="rId2"/>
            <a:stretch>
              <a:fillRect/>
            </a:stretch>
          </p:blipFill>
          <p:spPr>
            <a:xfrm>
              <a:off x="7380126" y="2409677"/>
              <a:ext cx="342977" cy="687359"/>
            </a:xfrm>
            <a:prstGeom prst="rect">
              <a:avLst/>
            </a:prstGeom>
          </p:spPr>
        </p:pic>
        <p:pic>
          <p:nvPicPr>
            <p:cNvPr id="25" name="圖片 24">
              <a:extLst>
                <a:ext uri="{FF2B5EF4-FFF2-40B4-BE49-F238E27FC236}">
                  <a16:creationId xmlns:a16="http://schemas.microsoft.com/office/drawing/2014/main" id="{039302E9-E2D0-082E-FE89-98B62398BE98}"/>
                </a:ext>
              </a:extLst>
            </p:cNvPr>
            <p:cNvPicPr>
              <a:picLocks noChangeAspect="1"/>
            </p:cNvPicPr>
            <p:nvPr/>
          </p:nvPicPr>
          <p:blipFill>
            <a:blip r:embed="rId2"/>
            <a:stretch>
              <a:fillRect/>
            </a:stretch>
          </p:blipFill>
          <p:spPr>
            <a:xfrm>
              <a:off x="7532526" y="2562077"/>
              <a:ext cx="342977" cy="687359"/>
            </a:xfrm>
            <a:prstGeom prst="rect">
              <a:avLst/>
            </a:prstGeom>
          </p:spPr>
        </p:pic>
        <p:pic>
          <p:nvPicPr>
            <p:cNvPr id="26" name="圖片 25">
              <a:extLst>
                <a:ext uri="{FF2B5EF4-FFF2-40B4-BE49-F238E27FC236}">
                  <a16:creationId xmlns:a16="http://schemas.microsoft.com/office/drawing/2014/main" id="{85A3882C-4057-F1CC-23D4-74231BBD2065}"/>
                </a:ext>
              </a:extLst>
            </p:cNvPr>
            <p:cNvPicPr>
              <a:picLocks noChangeAspect="1"/>
            </p:cNvPicPr>
            <p:nvPr/>
          </p:nvPicPr>
          <p:blipFill>
            <a:blip r:embed="rId2"/>
            <a:stretch>
              <a:fillRect/>
            </a:stretch>
          </p:blipFill>
          <p:spPr>
            <a:xfrm>
              <a:off x="7684926" y="2714477"/>
              <a:ext cx="342977" cy="687359"/>
            </a:xfrm>
            <a:prstGeom prst="rect">
              <a:avLst/>
            </a:prstGeom>
          </p:spPr>
        </p:pic>
        <p:pic>
          <p:nvPicPr>
            <p:cNvPr id="27" name="圖片 26">
              <a:extLst>
                <a:ext uri="{FF2B5EF4-FFF2-40B4-BE49-F238E27FC236}">
                  <a16:creationId xmlns:a16="http://schemas.microsoft.com/office/drawing/2014/main" id="{F08D57C6-7128-E1FD-9711-2F1221C7E17D}"/>
                </a:ext>
              </a:extLst>
            </p:cNvPr>
            <p:cNvPicPr>
              <a:picLocks noChangeAspect="1"/>
            </p:cNvPicPr>
            <p:nvPr/>
          </p:nvPicPr>
          <p:blipFill>
            <a:blip r:embed="rId2"/>
            <a:stretch>
              <a:fillRect/>
            </a:stretch>
          </p:blipFill>
          <p:spPr>
            <a:xfrm>
              <a:off x="6752882" y="2155666"/>
              <a:ext cx="342977" cy="687359"/>
            </a:xfrm>
            <a:prstGeom prst="rect">
              <a:avLst/>
            </a:prstGeom>
          </p:spPr>
        </p:pic>
        <p:pic>
          <p:nvPicPr>
            <p:cNvPr id="28" name="圖片 27">
              <a:extLst>
                <a:ext uri="{FF2B5EF4-FFF2-40B4-BE49-F238E27FC236}">
                  <a16:creationId xmlns:a16="http://schemas.microsoft.com/office/drawing/2014/main" id="{325AD08E-AC69-76D0-29DE-F8F1E2D27480}"/>
                </a:ext>
              </a:extLst>
            </p:cNvPr>
            <p:cNvPicPr>
              <a:picLocks noChangeAspect="1"/>
            </p:cNvPicPr>
            <p:nvPr/>
          </p:nvPicPr>
          <p:blipFill>
            <a:blip r:embed="rId2"/>
            <a:stretch>
              <a:fillRect/>
            </a:stretch>
          </p:blipFill>
          <p:spPr>
            <a:xfrm>
              <a:off x="6903837" y="2259131"/>
              <a:ext cx="342977" cy="687359"/>
            </a:xfrm>
            <a:prstGeom prst="rect">
              <a:avLst/>
            </a:prstGeom>
          </p:spPr>
        </p:pic>
        <p:pic>
          <p:nvPicPr>
            <p:cNvPr id="29" name="圖片 28">
              <a:extLst>
                <a:ext uri="{FF2B5EF4-FFF2-40B4-BE49-F238E27FC236}">
                  <a16:creationId xmlns:a16="http://schemas.microsoft.com/office/drawing/2014/main" id="{A82BEA0B-3F4D-DE54-472C-CAA42CD4201B}"/>
                </a:ext>
              </a:extLst>
            </p:cNvPr>
            <p:cNvPicPr>
              <a:picLocks noChangeAspect="1"/>
            </p:cNvPicPr>
            <p:nvPr/>
          </p:nvPicPr>
          <p:blipFill>
            <a:blip r:embed="rId2"/>
            <a:stretch>
              <a:fillRect/>
            </a:stretch>
          </p:blipFill>
          <p:spPr>
            <a:xfrm>
              <a:off x="7056237" y="2411531"/>
              <a:ext cx="342977" cy="687359"/>
            </a:xfrm>
            <a:prstGeom prst="rect">
              <a:avLst/>
            </a:prstGeom>
          </p:spPr>
        </p:pic>
        <p:pic>
          <p:nvPicPr>
            <p:cNvPr id="30" name="圖片 29">
              <a:extLst>
                <a:ext uri="{FF2B5EF4-FFF2-40B4-BE49-F238E27FC236}">
                  <a16:creationId xmlns:a16="http://schemas.microsoft.com/office/drawing/2014/main" id="{9FE25044-36C5-A0C8-7780-173CA849A153}"/>
                </a:ext>
              </a:extLst>
            </p:cNvPr>
            <p:cNvPicPr>
              <a:picLocks noChangeAspect="1"/>
            </p:cNvPicPr>
            <p:nvPr/>
          </p:nvPicPr>
          <p:blipFill>
            <a:blip r:embed="rId2"/>
            <a:stretch>
              <a:fillRect/>
            </a:stretch>
          </p:blipFill>
          <p:spPr>
            <a:xfrm>
              <a:off x="7208637" y="2563931"/>
              <a:ext cx="342977" cy="687359"/>
            </a:xfrm>
            <a:prstGeom prst="rect">
              <a:avLst/>
            </a:prstGeom>
          </p:spPr>
        </p:pic>
        <p:pic>
          <p:nvPicPr>
            <p:cNvPr id="31" name="圖片 30">
              <a:extLst>
                <a:ext uri="{FF2B5EF4-FFF2-40B4-BE49-F238E27FC236}">
                  <a16:creationId xmlns:a16="http://schemas.microsoft.com/office/drawing/2014/main" id="{CEA05DDC-7BD8-7473-1DB8-FFC901D434F9}"/>
                </a:ext>
              </a:extLst>
            </p:cNvPr>
            <p:cNvPicPr>
              <a:picLocks noChangeAspect="1"/>
            </p:cNvPicPr>
            <p:nvPr/>
          </p:nvPicPr>
          <p:blipFill>
            <a:blip r:embed="rId2"/>
            <a:stretch>
              <a:fillRect/>
            </a:stretch>
          </p:blipFill>
          <p:spPr>
            <a:xfrm>
              <a:off x="7361037" y="2716331"/>
              <a:ext cx="342977" cy="687359"/>
            </a:xfrm>
            <a:prstGeom prst="rect">
              <a:avLst/>
            </a:prstGeom>
          </p:spPr>
        </p:pic>
        <p:pic>
          <p:nvPicPr>
            <p:cNvPr id="32" name="圖片 31">
              <a:extLst>
                <a:ext uri="{FF2B5EF4-FFF2-40B4-BE49-F238E27FC236}">
                  <a16:creationId xmlns:a16="http://schemas.microsoft.com/office/drawing/2014/main" id="{4DD933EE-2B01-35CE-9B04-F06540570A74}"/>
                </a:ext>
              </a:extLst>
            </p:cNvPr>
            <p:cNvPicPr>
              <a:picLocks noChangeAspect="1"/>
            </p:cNvPicPr>
            <p:nvPr/>
          </p:nvPicPr>
          <p:blipFill>
            <a:blip r:embed="rId2"/>
            <a:stretch>
              <a:fillRect/>
            </a:stretch>
          </p:blipFill>
          <p:spPr>
            <a:xfrm>
              <a:off x="7513437" y="2868731"/>
              <a:ext cx="342977" cy="687359"/>
            </a:xfrm>
            <a:prstGeom prst="rect">
              <a:avLst/>
            </a:prstGeom>
          </p:spPr>
        </p:pic>
        <p:pic>
          <p:nvPicPr>
            <p:cNvPr id="33" name="圖片 32">
              <a:extLst>
                <a:ext uri="{FF2B5EF4-FFF2-40B4-BE49-F238E27FC236}">
                  <a16:creationId xmlns:a16="http://schemas.microsoft.com/office/drawing/2014/main" id="{B9697BAF-46AB-4E36-BECD-6F96C6975492}"/>
                </a:ext>
              </a:extLst>
            </p:cNvPr>
            <p:cNvPicPr>
              <a:picLocks noChangeAspect="1"/>
            </p:cNvPicPr>
            <p:nvPr/>
          </p:nvPicPr>
          <p:blipFill>
            <a:blip r:embed="rId2"/>
            <a:stretch>
              <a:fillRect/>
            </a:stretch>
          </p:blipFill>
          <p:spPr>
            <a:xfrm>
              <a:off x="6515461" y="2280506"/>
              <a:ext cx="342977" cy="687359"/>
            </a:xfrm>
            <a:prstGeom prst="rect">
              <a:avLst/>
            </a:prstGeom>
          </p:spPr>
        </p:pic>
        <p:pic>
          <p:nvPicPr>
            <p:cNvPr id="34" name="圖片 33">
              <a:extLst>
                <a:ext uri="{FF2B5EF4-FFF2-40B4-BE49-F238E27FC236}">
                  <a16:creationId xmlns:a16="http://schemas.microsoft.com/office/drawing/2014/main" id="{EFA8CBC6-F7CE-42D1-E4B6-65A80F32EEBE}"/>
                </a:ext>
              </a:extLst>
            </p:cNvPr>
            <p:cNvPicPr>
              <a:picLocks noChangeAspect="1"/>
            </p:cNvPicPr>
            <p:nvPr/>
          </p:nvPicPr>
          <p:blipFill>
            <a:blip r:embed="rId2"/>
            <a:stretch>
              <a:fillRect/>
            </a:stretch>
          </p:blipFill>
          <p:spPr>
            <a:xfrm>
              <a:off x="6666416" y="2383971"/>
              <a:ext cx="342977" cy="687359"/>
            </a:xfrm>
            <a:prstGeom prst="rect">
              <a:avLst/>
            </a:prstGeom>
          </p:spPr>
        </p:pic>
        <p:pic>
          <p:nvPicPr>
            <p:cNvPr id="35" name="圖片 34">
              <a:extLst>
                <a:ext uri="{FF2B5EF4-FFF2-40B4-BE49-F238E27FC236}">
                  <a16:creationId xmlns:a16="http://schemas.microsoft.com/office/drawing/2014/main" id="{651AE9D1-A631-B93A-2795-88E928D78BC8}"/>
                </a:ext>
              </a:extLst>
            </p:cNvPr>
            <p:cNvPicPr>
              <a:picLocks noChangeAspect="1"/>
            </p:cNvPicPr>
            <p:nvPr/>
          </p:nvPicPr>
          <p:blipFill>
            <a:blip r:embed="rId2"/>
            <a:stretch>
              <a:fillRect/>
            </a:stretch>
          </p:blipFill>
          <p:spPr>
            <a:xfrm>
              <a:off x="6818816" y="2536371"/>
              <a:ext cx="342977" cy="687359"/>
            </a:xfrm>
            <a:prstGeom prst="rect">
              <a:avLst/>
            </a:prstGeom>
          </p:spPr>
        </p:pic>
        <p:pic>
          <p:nvPicPr>
            <p:cNvPr id="36" name="圖片 35">
              <a:extLst>
                <a:ext uri="{FF2B5EF4-FFF2-40B4-BE49-F238E27FC236}">
                  <a16:creationId xmlns:a16="http://schemas.microsoft.com/office/drawing/2014/main" id="{106F403F-AD54-DA9B-96C3-59C4B630F93A}"/>
                </a:ext>
              </a:extLst>
            </p:cNvPr>
            <p:cNvPicPr>
              <a:picLocks noChangeAspect="1"/>
            </p:cNvPicPr>
            <p:nvPr/>
          </p:nvPicPr>
          <p:blipFill>
            <a:blip r:embed="rId2"/>
            <a:stretch>
              <a:fillRect/>
            </a:stretch>
          </p:blipFill>
          <p:spPr>
            <a:xfrm>
              <a:off x="6971216" y="2688771"/>
              <a:ext cx="342977" cy="687359"/>
            </a:xfrm>
            <a:prstGeom prst="rect">
              <a:avLst/>
            </a:prstGeom>
          </p:spPr>
        </p:pic>
        <p:pic>
          <p:nvPicPr>
            <p:cNvPr id="37" name="圖片 36">
              <a:extLst>
                <a:ext uri="{FF2B5EF4-FFF2-40B4-BE49-F238E27FC236}">
                  <a16:creationId xmlns:a16="http://schemas.microsoft.com/office/drawing/2014/main" id="{9DE2B642-6FF0-4EEA-033C-EB6EB84E6F81}"/>
                </a:ext>
              </a:extLst>
            </p:cNvPr>
            <p:cNvPicPr>
              <a:picLocks noChangeAspect="1"/>
            </p:cNvPicPr>
            <p:nvPr/>
          </p:nvPicPr>
          <p:blipFill>
            <a:blip r:embed="rId2"/>
            <a:stretch>
              <a:fillRect/>
            </a:stretch>
          </p:blipFill>
          <p:spPr>
            <a:xfrm>
              <a:off x="7123616" y="2841171"/>
              <a:ext cx="342977" cy="687359"/>
            </a:xfrm>
            <a:prstGeom prst="rect">
              <a:avLst/>
            </a:prstGeom>
          </p:spPr>
        </p:pic>
        <p:pic>
          <p:nvPicPr>
            <p:cNvPr id="38" name="圖片 37">
              <a:extLst>
                <a:ext uri="{FF2B5EF4-FFF2-40B4-BE49-F238E27FC236}">
                  <a16:creationId xmlns:a16="http://schemas.microsoft.com/office/drawing/2014/main" id="{2F5D6BE7-928E-C8F1-FDFC-E11B99CA7202}"/>
                </a:ext>
              </a:extLst>
            </p:cNvPr>
            <p:cNvPicPr>
              <a:picLocks noChangeAspect="1"/>
            </p:cNvPicPr>
            <p:nvPr/>
          </p:nvPicPr>
          <p:blipFill>
            <a:blip r:embed="rId2"/>
            <a:stretch>
              <a:fillRect/>
            </a:stretch>
          </p:blipFill>
          <p:spPr>
            <a:xfrm>
              <a:off x="7276016" y="2993571"/>
              <a:ext cx="342977" cy="687359"/>
            </a:xfrm>
            <a:prstGeom prst="rect">
              <a:avLst/>
            </a:prstGeom>
          </p:spPr>
        </p:pic>
      </p:grpSp>
      <p:sp>
        <p:nvSpPr>
          <p:cNvPr id="3" name="向右箭號 2">
            <a:extLst>
              <a:ext uri="{FF2B5EF4-FFF2-40B4-BE49-F238E27FC236}">
                <a16:creationId xmlns:a16="http://schemas.microsoft.com/office/drawing/2014/main" id="{11C0D2B8-10CD-63D4-25A8-D9126F99F41B}"/>
              </a:ext>
            </a:extLst>
          </p:cNvPr>
          <p:cNvSpPr/>
          <p:nvPr/>
        </p:nvSpPr>
        <p:spPr>
          <a:xfrm rot="16200000">
            <a:off x="5113538" y="3312905"/>
            <a:ext cx="2374193" cy="3540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 name="文字方塊 4">
            <a:extLst>
              <a:ext uri="{FF2B5EF4-FFF2-40B4-BE49-F238E27FC236}">
                <a16:creationId xmlns:a16="http://schemas.microsoft.com/office/drawing/2014/main" id="{72C9FF94-BDC2-0FC8-EC39-20B7C17EF2DE}"/>
              </a:ext>
            </a:extLst>
          </p:cNvPr>
          <p:cNvSpPr txBox="1"/>
          <p:nvPr/>
        </p:nvSpPr>
        <p:spPr>
          <a:xfrm>
            <a:off x="4262160" y="3608306"/>
            <a:ext cx="2004075" cy="923330"/>
          </a:xfrm>
          <a:prstGeom prst="rect">
            <a:avLst/>
          </a:prstGeom>
          <a:noFill/>
        </p:spPr>
        <p:txBody>
          <a:bodyPr wrap="none" rtlCol="0">
            <a:spAutoFit/>
          </a:bodyPr>
          <a:lstStyle/>
          <a:p>
            <a:r>
              <a:rPr kumimoji="1" lang="zh-TW" altLang="en-US" dirty="0"/>
              <a:t>一共存入 </a:t>
            </a:r>
            <a:r>
              <a:rPr kumimoji="1" lang="en-US" altLang="zh-TW" dirty="0">
                <a:highlight>
                  <a:srgbClr val="00FF00"/>
                </a:highlight>
              </a:rPr>
              <a:t>5,400</a:t>
            </a:r>
            <a:r>
              <a:rPr kumimoji="1" lang="zh-TW" altLang="en-US" dirty="0"/>
              <a:t>元</a:t>
            </a:r>
            <a:endParaRPr kumimoji="1" lang="en-US" altLang="zh-TW" dirty="0"/>
          </a:p>
          <a:p>
            <a:r>
              <a:rPr kumimoji="1" lang="zh-TW" altLang="en-US" dirty="0">
                <a:solidFill>
                  <a:srgbClr val="FF0000"/>
                </a:solidFill>
              </a:rPr>
              <a:t>每一小時發放</a:t>
            </a:r>
            <a:endParaRPr kumimoji="1" lang="en-US" altLang="zh-TW" dirty="0">
              <a:solidFill>
                <a:srgbClr val="FF0000"/>
              </a:solidFill>
            </a:endParaRPr>
          </a:p>
          <a:p>
            <a:r>
              <a:rPr kumimoji="1" lang="zh-TW" altLang="en-US" dirty="0">
                <a:solidFill>
                  <a:srgbClr val="FF0000"/>
                </a:solidFill>
              </a:rPr>
              <a:t>利息 </a:t>
            </a:r>
            <a:r>
              <a:rPr kumimoji="1" lang="en-US" altLang="zh-TW" dirty="0">
                <a:solidFill>
                  <a:srgbClr val="FF0000"/>
                </a:solidFill>
              </a:rPr>
              <a:t>(10%) </a:t>
            </a:r>
            <a:r>
              <a:rPr kumimoji="1" lang="zh-TW" altLang="en-US" dirty="0">
                <a:solidFill>
                  <a:srgbClr val="FF0000"/>
                </a:solidFill>
              </a:rPr>
              <a:t>給存戶</a:t>
            </a:r>
          </a:p>
        </p:txBody>
      </p:sp>
      <p:sp>
        <p:nvSpPr>
          <p:cNvPr id="16" name="向右箭號 15">
            <a:extLst>
              <a:ext uri="{FF2B5EF4-FFF2-40B4-BE49-F238E27FC236}">
                <a16:creationId xmlns:a16="http://schemas.microsoft.com/office/drawing/2014/main" id="{125CED21-E543-ACA1-FD75-1D9F1EDB2386}"/>
              </a:ext>
            </a:extLst>
          </p:cNvPr>
          <p:cNvSpPr/>
          <p:nvPr/>
        </p:nvSpPr>
        <p:spPr>
          <a:xfrm>
            <a:off x="5392208" y="1746893"/>
            <a:ext cx="2004074" cy="3540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0" name="文字方塊 39">
            <a:extLst>
              <a:ext uri="{FF2B5EF4-FFF2-40B4-BE49-F238E27FC236}">
                <a16:creationId xmlns:a16="http://schemas.microsoft.com/office/drawing/2014/main" id="{2E7BAFBB-449B-F340-8901-9EB49D293FCA}"/>
              </a:ext>
            </a:extLst>
          </p:cNvPr>
          <p:cNvSpPr txBox="1"/>
          <p:nvPr/>
        </p:nvSpPr>
        <p:spPr>
          <a:xfrm>
            <a:off x="7506748" y="1565165"/>
            <a:ext cx="1750983" cy="646331"/>
          </a:xfrm>
          <a:prstGeom prst="rect">
            <a:avLst/>
          </a:prstGeom>
          <a:noFill/>
          <a:ln>
            <a:noFill/>
          </a:ln>
        </p:spPr>
        <p:txBody>
          <a:bodyPr wrap="square">
            <a:spAutoFit/>
          </a:bodyPr>
          <a:lstStyle/>
          <a:p>
            <a:pPr algn="ctr"/>
            <a:r>
              <a:rPr kumimoji="1" lang="zh-TW" altLang="en-US" dirty="0">
                <a:latin typeface="Microsoft JhengHei" panose="020B0604030504040204" pitchFamily="34" charset="-120"/>
                <a:ea typeface="Microsoft JhengHei" panose="020B0604030504040204" pitchFamily="34" charset="-120"/>
              </a:rPr>
              <a:t>一共有</a:t>
            </a:r>
            <a:r>
              <a:rPr kumimoji="1" lang="zh-TW" altLang="en-US" sz="1800" dirty="0">
                <a:latin typeface="Microsoft JhengHei" panose="020B0604030504040204" pitchFamily="34" charset="-120"/>
                <a:ea typeface="Microsoft JhengHei" panose="020B0604030504040204" pitchFamily="34" charset="-120"/>
              </a:rPr>
              <a:t>資金</a:t>
            </a:r>
            <a:r>
              <a:rPr kumimoji="1" lang="en-US" altLang="zh-TW" sz="1800" dirty="0">
                <a:latin typeface="Microsoft JhengHei" panose="020B0604030504040204" pitchFamily="34" charset="-120"/>
                <a:ea typeface="Microsoft JhengHei" panose="020B0604030504040204" pitchFamily="34" charset="-120"/>
              </a:rPr>
              <a:t>:</a:t>
            </a:r>
          </a:p>
          <a:p>
            <a:pPr algn="ctr"/>
            <a:r>
              <a:rPr kumimoji="1" lang="en-US" altLang="zh-TW" sz="1800" dirty="0">
                <a:latin typeface="Microsoft JhengHei" panose="020B0604030504040204" pitchFamily="34" charset="-120"/>
                <a:ea typeface="Microsoft JhengHei" panose="020B0604030504040204" pitchFamily="34" charset="-120"/>
              </a:rPr>
              <a:t>6,000</a:t>
            </a:r>
            <a:r>
              <a:rPr kumimoji="1" lang="zh-TW" altLang="en-US" sz="1800" dirty="0">
                <a:latin typeface="Microsoft JhengHei" panose="020B0604030504040204" pitchFamily="34" charset="-120"/>
                <a:ea typeface="Microsoft JhengHei" panose="020B0604030504040204" pitchFamily="34" charset="-120"/>
              </a:rPr>
              <a:t>元</a:t>
            </a:r>
          </a:p>
        </p:txBody>
      </p:sp>
      <p:sp>
        <p:nvSpPr>
          <p:cNvPr id="41" name="向右箭號 40">
            <a:extLst>
              <a:ext uri="{FF2B5EF4-FFF2-40B4-BE49-F238E27FC236}">
                <a16:creationId xmlns:a16="http://schemas.microsoft.com/office/drawing/2014/main" id="{943E19A6-A41A-B326-6D01-3B879D928794}"/>
              </a:ext>
            </a:extLst>
          </p:cNvPr>
          <p:cNvSpPr/>
          <p:nvPr/>
        </p:nvSpPr>
        <p:spPr>
          <a:xfrm rot="5400000">
            <a:off x="9000256" y="2253959"/>
            <a:ext cx="923331" cy="3540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2" name="文字方塊 41">
            <a:extLst>
              <a:ext uri="{FF2B5EF4-FFF2-40B4-BE49-F238E27FC236}">
                <a16:creationId xmlns:a16="http://schemas.microsoft.com/office/drawing/2014/main" id="{0FBF75B8-F9A7-4350-1C50-F5F41B160944}"/>
              </a:ext>
            </a:extLst>
          </p:cNvPr>
          <p:cNvSpPr txBox="1"/>
          <p:nvPr/>
        </p:nvSpPr>
        <p:spPr>
          <a:xfrm>
            <a:off x="8137070" y="2988555"/>
            <a:ext cx="4054929" cy="923330"/>
          </a:xfrm>
          <a:prstGeom prst="rect">
            <a:avLst/>
          </a:prstGeom>
          <a:noFill/>
        </p:spPr>
        <p:txBody>
          <a:bodyPr wrap="square">
            <a:spAutoFit/>
          </a:bodyPr>
          <a:lstStyle/>
          <a:p>
            <a:r>
              <a:rPr kumimoji="1" lang="zh-TW" altLang="en-US" sz="1800" dirty="0">
                <a:latin typeface="Microsoft JhengHei" panose="020B0604030504040204" pitchFamily="34" charset="-120"/>
                <a:ea typeface="Microsoft JhengHei" panose="020B0604030504040204" pitchFamily="34" charset="-120"/>
              </a:rPr>
              <a:t>本金＋獲利：</a:t>
            </a:r>
            <a:r>
              <a:rPr kumimoji="1" lang="en-US" altLang="zh-TW" sz="1800" dirty="0">
                <a:highlight>
                  <a:srgbClr val="FFFF00"/>
                </a:highlight>
                <a:latin typeface="Microsoft JhengHei" panose="020B0604030504040204" pitchFamily="34" charset="-120"/>
                <a:ea typeface="Microsoft JhengHei" panose="020B0604030504040204" pitchFamily="34" charset="-120"/>
              </a:rPr>
              <a:t>60,000</a:t>
            </a:r>
            <a:r>
              <a:rPr kumimoji="1" lang="zh-TW" altLang="en-US" sz="1800" dirty="0">
                <a:latin typeface="Microsoft JhengHei" panose="020B0604030504040204" pitchFamily="34" charset="-120"/>
                <a:ea typeface="Microsoft JhengHei" panose="020B0604030504040204" pitchFamily="34" charset="-120"/>
              </a:rPr>
              <a:t>元</a:t>
            </a:r>
            <a:endParaRPr kumimoji="1" lang="en-US" altLang="zh-TW" sz="1800" dirty="0">
              <a:latin typeface="Microsoft JhengHei" panose="020B0604030504040204" pitchFamily="34" charset="-120"/>
              <a:ea typeface="Microsoft JhengHei" panose="020B0604030504040204" pitchFamily="34" charset="-120"/>
            </a:endParaRPr>
          </a:p>
          <a:p>
            <a:r>
              <a:rPr kumimoji="1" lang="zh-TW" altLang="en-US" dirty="0">
                <a:latin typeface="Microsoft JhengHei" panose="020B0604030504040204" pitchFamily="34" charset="-120"/>
                <a:ea typeface="Microsoft JhengHei" panose="020B0604030504040204" pitchFamily="34" charset="-120"/>
              </a:rPr>
              <a:t>利息支出：</a:t>
            </a:r>
            <a:r>
              <a:rPr kumimoji="1" lang="en-US" altLang="zh-TW" dirty="0">
                <a:latin typeface="Microsoft JhengHei" panose="020B0604030504040204" pitchFamily="34" charset="-120"/>
                <a:ea typeface="Microsoft JhengHei" panose="020B0604030504040204" pitchFamily="34" charset="-120"/>
              </a:rPr>
              <a:t>5,400*10%*10 = </a:t>
            </a:r>
            <a:r>
              <a:rPr kumimoji="1" lang="en-US" altLang="zh-TW" dirty="0">
                <a:highlight>
                  <a:srgbClr val="00FFFF"/>
                </a:highlight>
                <a:latin typeface="Microsoft JhengHei" panose="020B0604030504040204" pitchFamily="34" charset="-120"/>
                <a:ea typeface="Microsoft JhengHei" panose="020B0604030504040204" pitchFamily="34" charset="-120"/>
              </a:rPr>
              <a:t>-5400</a:t>
            </a:r>
          </a:p>
          <a:p>
            <a:r>
              <a:rPr kumimoji="1" lang="zh-TW" altLang="en-US" sz="1800" dirty="0">
                <a:latin typeface="Microsoft JhengHei" panose="020B0604030504040204" pitchFamily="34" charset="-120"/>
                <a:ea typeface="Microsoft JhengHei" panose="020B0604030504040204" pitchFamily="34" charset="-120"/>
              </a:rPr>
              <a:t>存戶的錢：</a:t>
            </a:r>
            <a:r>
              <a:rPr kumimoji="1" lang="en-US" altLang="zh-TW" sz="1800" dirty="0">
                <a:highlight>
                  <a:srgbClr val="00FF00"/>
                </a:highlight>
                <a:latin typeface="Microsoft JhengHei" panose="020B0604030504040204" pitchFamily="34" charset="-120"/>
                <a:ea typeface="Microsoft JhengHei" panose="020B0604030504040204" pitchFamily="34" charset="-120"/>
              </a:rPr>
              <a:t>5,400</a:t>
            </a:r>
            <a:endParaRPr kumimoji="1" lang="zh-TW" altLang="en-US" sz="1800" dirty="0">
              <a:highlight>
                <a:srgbClr val="00FF00"/>
              </a:highlight>
              <a:latin typeface="Microsoft JhengHei" panose="020B0604030504040204" pitchFamily="34" charset="-120"/>
              <a:ea typeface="Microsoft JhengHei" panose="020B0604030504040204" pitchFamily="34" charset="-120"/>
            </a:endParaRPr>
          </a:p>
        </p:txBody>
      </p:sp>
      <p:sp>
        <p:nvSpPr>
          <p:cNvPr id="43" name="文字方塊 42">
            <a:extLst>
              <a:ext uri="{FF2B5EF4-FFF2-40B4-BE49-F238E27FC236}">
                <a16:creationId xmlns:a16="http://schemas.microsoft.com/office/drawing/2014/main" id="{B4BB3472-D6A3-8FED-4E98-76F507383FD1}"/>
              </a:ext>
            </a:extLst>
          </p:cNvPr>
          <p:cNvSpPr txBox="1"/>
          <p:nvPr/>
        </p:nvSpPr>
        <p:spPr>
          <a:xfrm>
            <a:off x="9282006" y="1984120"/>
            <a:ext cx="1750983" cy="646331"/>
          </a:xfrm>
          <a:prstGeom prst="rect">
            <a:avLst/>
          </a:prstGeom>
          <a:noFill/>
        </p:spPr>
        <p:txBody>
          <a:bodyPr wrap="square">
            <a:spAutoFit/>
          </a:bodyPr>
          <a:lstStyle/>
          <a:p>
            <a:pPr algn="ctr"/>
            <a:r>
              <a:rPr kumimoji="1" lang="zh-TW" altLang="en-US" sz="1800" dirty="0">
                <a:latin typeface="Microsoft JhengHei" panose="020B0604030504040204" pitchFamily="34" charset="-120"/>
                <a:ea typeface="Microsoft JhengHei" panose="020B0604030504040204" pitchFamily="34" charset="-120"/>
              </a:rPr>
              <a:t>投入股市</a:t>
            </a:r>
            <a:endParaRPr kumimoji="1" lang="en-US" altLang="zh-TW" sz="1800" dirty="0">
              <a:latin typeface="Microsoft JhengHei" panose="020B0604030504040204" pitchFamily="34" charset="-120"/>
              <a:ea typeface="Microsoft JhengHei" panose="020B0604030504040204" pitchFamily="34" charset="-120"/>
            </a:endParaRPr>
          </a:p>
          <a:p>
            <a:pPr algn="ctr"/>
            <a:r>
              <a:rPr kumimoji="1" lang="en-US" altLang="zh-TW" dirty="0">
                <a:latin typeface="Microsoft JhengHei" panose="020B0604030504040204" pitchFamily="34" charset="-120"/>
                <a:ea typeface="Microsoft JhengHei" panose="020B0604030504040204" pitchFamily="34" charset="-120"/>
              </a:rPr>
              <a:t>10</a:t>
            </a:r>
            <a:r>
              <a:rPr kumimoji="1" lang="zh-TW" altLang="en-US" sz="1800" dirty="0">
                <a:latin typeface="Microsoft JhengHei" panose="020B0604030504040204" pitchFamily="34" charset="-120"/>
                <a:ea typeface="Microsoft JhengHei" panose="020B0604030504040204" pitchFamily="34" charset="-120"/>
              </a:rPr>
              <a:t>小時後</a:t>
            </a:r>
          </a:p>
        </p:txBody>
      </p:sp>
      <p:sp>
        <p:nvSpPr>
          <p:cNvPr id="15" name="向右箭號 14">
            <a:extLst>
              <a:ext uri="{FF2B5EF4-FFF2-40B4-BE49-F238E27FC236}">
                <a16:creationId xmlns:a16="http://schemas.microsoft.com/office/drawing/2014/main" id="{94DF43E5-B858-3B1A-0A8A-CC591522D8C9}"/>
              </a:ext>
            </a:extLst>
          </p:cNvPr>
          <p:cNvSpPr/>
          <p:nvPr/>
        </p:nvSpPr>
        <p:spPr>
          <a:xfrm>
            <a:off x="2649543" y="1687110"/>
            <a:ext cx="544286" cy="3540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4" name="向右箭號 43">
            <a:extLst>
              <a:ext uri="{FF2B5EF4-FFF2-40B4-BE49-F238E27FC236}">
                <a16:creationId xmlns:a16="http://schemas.microsoft.com/office/drawing/2014/main" id="{C261C81F-521B-088B-FFD3-C6B7D5117A7C}"/>
              </a:ext>
            </a:extLst>
          </p:cNvPr>
          <p:cNvSpPr/>
          <p:nvPr/>
        </p:nvSpPr>
        <p:spPr>
          <a:xfrm rot="5400000">
            <a:off x="9026718" y="4213607"/>
            <a:ext cx="870405" cy="3540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nvGrpSpPr>
          <p:cNvPr id="45" name="群組 44">
            <a:extLst>
              <a:ext uri="{FF2B5EF4-FFF2-40B4-BE49-F238E27FC236}">
                <a16:creationId xmlns:a16="http://schemas.microsoft.com/office/drawing/2014/main" id="{B00138B3-9352-704F-CF55-AA1591AFA6E8}"/>
              </a:ext>
            </a:extLst>
          </p:cNvPr>
          <p:cNvGrpSpPr/>
          <p:nvPr/>
        </p:nvGrpSpPr>
        <p:grpSpPr>
          <a:xfrm>
            <a:off x="8298092" y="4970270"/>
            <a:ext cx="2430280" cy="1372933"/>
            <a:chOff x="1082563" y="1597470"/>
            <a:chExt cx="3631182" cy="2051356"/>
          </a:xfrm>
        </p:grpSpPr>
        <p:grpSp>
          <p:nvGrpSpPr>
            <p:cNvPr id="46" name="群組 45">
              <a:extLst>
                <a:ext uri="{FF2B5EF4-FFF2-40B4-BE49-F238E27FC236}">
                  <a16:creationId xmlns:a16="http://schemas.microsoft.com/office/drawing/2014/main" id="{F28D6F2A-7E14-97DF-14B2-A552C8540FF9}"/>
                </a:ext>
              </a:extLst>
            </p:cNvPr>
            <p:cNvGrpSpPr/>
            <p:nvPr/>
          </p:nvGrpSpPr>
          <p:grpSpPr>
            <a:xfrm>
              <a:off x="1306287" y="1597470"/>
              <a:ext cx="3069772" cy="1525021"/>
              <a:chOff x="1861457" y="2250613"/>
              <a:chExt cx="4234543" cy="2103664"/>
            </a:xfrm>
          </p:grpSpPr>
          <p:pic>
            <p:nvPicPr>
              <p:cNvPr id="50" name="圖片 49">
                <a:extLst>
                  <a:ext uri="{FF2B5EF4-FFF2-40B4-BE49-F238E27FC236}">
                    <a16:creationId xmlns:a16="http://schemas.microsoft.com/office/drawing/2014/main" id="{67F9E158-232F-9099-294F-E2FACCC6481D}"/>
                  </a:ext>
                </a:extLst>
              </p:cNvPr>
              <p:cNvPicPr>
                <a:picLocks noChangeAspect="1"/>
              </p:cNvPicPr>
              <p:nvPr/>
            </p:nvPicPr>
            <p:blipFill>
              <a:blip r:embed="rId2"/>
              <a:stretch>
                <a:fillRect/>
              </a:stretch>
            </p:blipFill>
            <p:spPr>
              <a:xfrm>
                <a:off x="1861457" y="2250613"/>
                <a:ext cx="1049681" cy="2103664"/>
              </a:xfrm>
              <a:prstGeom prst="rect">
                <a:avLst/>
              </a:prstGeom>
            </p:spPr>
          </p:pic>
          <p:sp>
            <p:nvSpPr>
              <p:cNvPr id="51" name="文字方塊 50">
                <a:extLst>
                  <a:ext uri="{FF2B5EF4-FFF2-40B4-BE49-F238E27FC236}">
                    <a16:creationId xmlns:a16="http://schemas.microsoft.com/office/drawing/2014/main" id="{FDF90283-019C-FB55-5183-974760134AC4}"/>
                  </a:ext>
                </a:extLst>
              </p:cNvPr>
              <p:cNvSpPr txBox="1"/>
              <p:nvPr/>
            </p:nvSpPr>
            <p:spPr>
              <a:xfrm>
                <a:off x="2086940" y="2405743"/>
                <a:ext cx="598715" cy="761218"/>
              </a:xfrm>
              <a:prstGeom prst="rect">
                <a:avLst/>
              </a:prstGeom>
              <a:noFill/>
            </p:spPr>
            <p:txBody>
              <a:bodyPr wrap="square" rtlCol="0">
                <a:spAutoFit/>
              </a:bodyPr>
              <a:lstStyle/>
              <a:p>
                <a:pPr algn="ctr"/>
                <a:r>
                  <a:rPr kumimoji="1" lang="en-US" altLang="zh-TW" b="1" dirty="0"/>
                  <a:t>A</a:t>
                </a:r>
                <a:endParaRPr kumimoji="1" lang="zh-TW" altLang="en-US" b="1" dirty="0"/>
              </a:p>
            </p:txBody>
          </p:sp>
          <p:pic>
            <p:nvPicPr>
              <p:cNvPr id="52" name="圖片 51">
                <a:extLst>
                  <a:ext uri="{FF2B5EF4-FFF2-40B4-BE49-F238E27FC236}">
                    <a16:creationId xmlns:a16="http://schemas.microsoft.com/office/drawing/2014/main" id="{626E6126-AB3F-E906-563D-C1BDBF986857}"/>
                  </a:ext>
                </a:extLst>
              </p:cNvPr>
              <p:cNvPicPr>
                <a:picLocks noChangeAspect="1"/>
              </p:cNvPicPr>
              <p:nvPr/>
            </p:nvPicPr>
            <p:blipFill>
              <a:blip r:embed="rId2"/>
              <a:stretch>
                <a:fillRect/>
              </a:stretch>
            </p:blipFill>
            <p:spPr>
              <a:xfrm>
                <a:off x="3494314" y="2250613"/>
                <a:ext cx="1049681" cy="2103664"/>
              </a:xfrm>
              <a:prstGeom prst="rect">
                <a:avLst/>
              </a:prstGeom>
            </p:spPr>
          </p:pic>
          <p:sp>
            <p:nvSpPr>
              <p:cNvPr id="53" name="文字方塊 52">
                <a:extLst>
                  <a:ext uri="{FF2B5EF4-FFF2-40B4-BE49-F238E27FC236}">
                    <a16:creationId xmlns:a16="http://schemas.microsoft.com/office/drawing/2014/main" id="{B8E27498-A138-728C-12E4-F8850DE861F8}"/>
                  </a:ext>
                </a:extLst>
              </p:cNvPr>
              <p:cNvSpPr txBox="1"/>
              <p:nvPr/>
            </p:nvSpPr>
            <p:spPr>
              <a:xfrm>
                <a:off x="3719797" y="2405743"/>
                <a:ext cx="598715" cy="761218"/>
              </a:xfrm>
              <a:prstGeom prst="rect">
                <a:avLst/>
              </a:prstGeom>
              <a:noFill/>
            </p:spPr>
            <p:txBody>
              <a:bodyPr wrap="square" rtlCol="0">
                <a:spAutoFit/>
              </a:bodyPr>
              <a:lstStyle/>
              <a:p>
                <a:pPr algn="ctr"/>
                <a:r>
                  <a:rPr kumimoji="1" lang="en-US" altLang="zh-TW" b="1" dirty="0"/>
                  <a:t>B</a:t>
                </a:r>
                <a:endParaRPr kumimoji="1" lang="zh-TW" altLang="en-US" b="1" dirty="0"/>
              </a:p>
            </p:txBody>
          </p:sp>
          <p:pic>
            <p:nvPicPr>
              <p:cNvPr id="54" name="圖片 53">
                <a:extLst>
                  <a:ext uri="{FF2B5EF4-FFF2-40B4-BE49-F238E27FC236}">
                    <a16:creationId xmlns:a16="http://schemas.microsoft.com/office/drawing/2014/main" id="{F7DD6406-3A3A-D006-1BF4-2361B711B421}"/>
                  </a:ext>
                </a:extLst>
              </p:cNvPr>
              <p:cNvPicPr>
                <a:picLocks noChangeAspect="1"/>
              </p:cNvPicPr>
              <p:nvPr/>
            </p:nvPicPr>
            <p:blipFill>
              <a:blip r:embed="rId2"/>
              <a:stretch>
                <a:fillRect/>
              </a:stretch>
            </p:blipFill>
            <p:spPr>
              <a:xfrm>
                <a:off x="5046319" y="2250613"/>
                <a:ext cx="1049681" cy="2103664"/>
              </a:xfrm>
              <a:prstGeom prst="rect">
                <a:avLst/>
              </a:prstGeom>
            </p:spPr>
          </p:pic>
          <p:sp>
            <p:nvSpPr>
              <p:cNvPr id="55" name="文字方塊 54">
                <a:extLst>
                  <a:ext uri="{FF2B5EF4-FFF2-40B4-BE49-F238E27FC236}">
                    <a16:creationId xmlns:a16="http://schemas.microsoft.com/office/drawing/2014/main" id="{28342BEC-AA21-76BE-68E0-1FE55DBB9CA7}"/>
                  </a:ext>
                </a:extLst>
              </p:cNvPr>
              <p:cNvSpPr txBox="1"/>
              <p:nvPr/>
            </p:nvSpPr>
            <p:spPr>
              <a:xfrm>
                <a:off x="5271802" y="2405743"/>
                <a:ext cx="598715" cy="761218"/>
              </a:xfrm>
              <a:prstGeom prst="rect">
                <a:avLst/>
              </a:prstGeom>
              <a:noFill/>
            </p:spPr>
            <p:txBody>
              <a:bodyPr wrap="square" rtlCol="0">
                <a:spAutoFit/>
              </a:bodyPr>
              <a:lstStyle/>
              <a:p>
                <a:pPr algn="ctr"/>
                <a:r>
                  <a:rPr kumimoji="1" lang="en-US" altLang="zh-TW" b="1" dirty="0"/>
                  <a:t>C</a:t>
                </a:r>
                <a:endParaRPr kumimoji="1" lang="zh-TW" altLang="en-US" b="1" dirty="0"/>
              </a:p>
            </p:txBody>
          </p:sp>
        </p:grpSp>
        <p:sp>
          <p:nvSpPr>
            <p:cNvPr id="47" name="文字方塊 46">
              <a:extLst>
                <a:ext uri="{FF2B5EF4-FFF2-40B4-BE49-F238E27FC236}">
                  <a16:creationId xmlns:a16="http://schemas.microsoft.com/office/drawing/2014/main" id="{73AD5B4E-6284-1FB9-2A42-5DE30E4D2539}"/>
                </a:ext>
              </a:extLst>
            </p:cNvPr>
            <p:cNvSpPr txBox="1"/>
            <p:nvPr/>
          </p:nvSpPr>
          <p:spPr>
            <a:xfrm>
              <a:off x="1082563" y="3234950"/>
              <a:ext cx="1078280" cy="413876"/>
            </a:xfrm>
            <a:prstGeom prst="rect">
              <a:avLst/>
            </a:prstGeom>
            <a:noFill/>
          </p:spPr>
          <p:txBody>
            <a:bodyPr wrap="none" rtlCol="0">
              <a:spAutoFit/>
            </a:bodyPr>
            <a:lstStyle/>
            <a:p>
              <a:r>
                <a:rPr lang="en-US" altLang="zh-TW" sz="1200" b="0" i="0" u="none" strike="noStrike" dirty="0">
                  <a:solidFill>
                    <a:srgbClr val="FF0000"/>
                  </a:solidFill>
                  <a:effectLst/>
                  <a:latin typeface="arial" panose="020B0604020202020204" pitchFamily="34" charset="0"/>
                </a:rPr>
                <a:t>8,200</a:t>
              </a:r>
              <a:r>
                <a:rPr kumimoji="1" lang="zh-TW" altLang="en-US" sz="1200" dirty="0">
                  <a:solidFill>
                    <a:srgbClr val="FF0000"/>
                  </a:solidFill>
                </a:rPr>
                <a:t>元</a:t>
              </a:r>
            </a:p>
          </p:txBody>
        </p:sp>
        <p:sp>
          <p:nvSpPr>
            <p:cNvPr id="48" name="文字方塊 47">
              <a:extLst>
                <a:ext uri="{FF2B5EF4-FFF2-40B4-BE49-F238E27FC236}">
                  <a16:creationId xmlns:a16="http://schemas.microsoft.com/office/drawing/2014/main" id="{F1669FFB-5061-0156-1825-1CF9EA8C7B34}"/>
                </a:ext>
              </a:extLst>
            </p:cNvPr>
            <p:cNvSpPr txBox="1"/>
            <p:nvPr/>
          </p:nvSpPr>
          <p:spPr>
            <a:xfrm>
              <a:off x="2302510" y="3224981"/>
              <a:ext cx="1181270" cy="413876"/>
            </a:xfrm>
            <a:prstGeom prst="rect">
              <a:avLst/>
            </a:prstGeom>
            <a:noFill/>
          </p:spPr>
          <p:txBody>
            <a:bodyPr wrap="none" rtlCol="0">
              <a:spAutoFit/>
            </a:bodyPr>
            <a:lstStyle/>
            <a:p>
              <a:r>
                <a:rPr kumimoji="1" lang="en-US" altLang="zh-TW" sz="1200" dirty="0">
                  <a:solidFill>
                    <a:srgbClr val="FF0000"/>
                  </a:solidFill>
                </a:rPr>
                <a:t>16,400</a:t>
              </a:r>
              <a:r>
                <a:rPr kumimoji="1" lang="zh-TW" altLang="en-US" sz="1200" dirty="0">
                  <a:solidFill>
                    <a:srgbClr val="FF0000"/>
                  </a:solidFill>
                </a:rPr>
                <a:t>元</a:t>
              </a:r>
            </a:p>
          </p:txBody>
        </p:sp>
        <p:sp>
          <p:nvSpPr>
            <p:cNvPr id="49" name="文字方塊 48">
              <a:extLst>
                <a:ext uri="{FF2B5EF4-FFF2-40B4-BE49-F238E27FC236}">
                  <a16:creationId xmlns:a16="http://schemas.microsoft.com/office/drawing/2014/main" id="{F52B4563-5039-F14A-4E3A-9DE421F6D793}"/>
                </a:ext>
              </a:extLst>
            </p:cNvPr>
            <p:cNvSpPr txBox="1"/>
            <p:nvPr/>
          </p:nvSpPr>
          <p:spPr>
            <a:xfrm>
              <a:off x="3508524" y="3224981"/>
              <a:ext cx="1205221" cy="413876"/>
            </a:xfrm>
            <a:prstGeom prst="rect">
              <a:avLst/>
            </a:prstGeom>
            <a:noFill/>
          </p:spPr>
          <p:txBody>
            <a:bodyPr wrap="none" rtlCol="0">
              <a:spAutoFit/>
            </a:bodyPr>
            <a:lstStyle/>
            <a:p>
              <a:r>
                <a:rPr lang="en-US" altLang="zh-TW" sz="1200" b="0" i="0" u="none" strike="noStrike" dirty="0">
                  <a:solidFill>
                    <a:srgbClr val="FF0000"/>
                  </a:solidFill>
                  <a:effectLst/>
                  <a:latin typeface="arial" panose="020B0604020202020204" pitchFamily="34" charset="0"/>
                </a:rPr>
                <a:t>24,600</a:t>
              </a:r>
              <a:r>
                <a:rPr kumimoji="1" lang="zh-TW" altLang="en-US" sz="1200" dirty="0">
                  <a:solidFill>
                    <a:srgbClr val="FF0000"/>
                  </a:solidFill>
                </a:rPr>
                <a:t>元</a:t>
              </a:r>
            </a:p>
          </p:txBody>
        </p:sp>
      </p:grpSp>
      <p:sp>
        <p:nvSpPr>
          <p:cNvPr id="56" name="文字方塊 55">
            <a:extLst>
              <a:ext uri="{FF2B5EF4-FFF2-40B4-BE49-F238E27FC236}">
                <a16:creationId xmlns:a16="http://schemas.microsoft.com/office/drawing/2014/main" id="{1BD639AD-860A-091E-D12A-5CC9D0CD3D3E}"/>
              </a:ext>
            </a:extLst>
          </p:cNvPr>
          <p:cNvSpPr txBox="1"/>
          <p:nvPr/>
        </p:nvSpPr>
        <p:spPr>
          <a:xfrm>
            <a:off x="9638945" y="4030696"/>
            <a:ext cx="2553054" cy="646331"/>
          </a:xfrm>
          <a:prstGeom prst="rect">
            <a:avLst/>
          </a:prstGeom>
          <a:noFill/>
        </p:spPr>
        <p:txBody>
          <a:bodyPr wrap="square">
            <a:spAutoFit/>
          </a:bodyPr>
          <a:lstStyle/>
          <a:p>
            <a:r>
              <a:rPr kumimoji="1" lang="en-US" altLang="zh-TW" sz="1800" dirty="0">
                <a:highlight>
                  <a:srgbClr val="FFFF00"/>
                </a:highlight>
                <a:latin typeface="Microsoft JhengHei" panose="020B0604030504040204" pitchFamily="34" charset="-120"/>
                <a:ea typeface="Microsoft JhengHei" panose="020B0604030504040204" pitchFamily="34" charset="-120"/>
              </a:rPr>
              <a:t>60,000</a:t>
            </a:r>
            <a:r>
              <a:rPr kumimoji="1" lang="en-US" altLang="zh-TW" sz="1800" dirty="0">
                <a:latin typeface="Microsoft JhengHei" panose="020B0604030504040204" pitchFamily="34" charset="-120"/>
                <a:ea typeface="Microsoft JhengHei" panose="020B0604030504040204" pitchFamily="34" charset="-120"/>
              </a:rPr>
              <a:t> - </a:t>
            </a:r>
            <a:r>
              <a:rPr kumimoji="1" lang="en-US" altLang="zh-TW" sz="1800" dirty="0">
                <a:highlight>
                  <a:srgbClr val="00FFFF"/>
                </a:highlight>
                <a:latin typeface="Microsoft JhengHei" panose="020B0604030504040204" pitchFamily="34" charset="-120"/>
                <a:ea typeface="Microsoft JhengHei" panose="020B0604030504040204" pitchFamily="34" charset="-120"/>
              </a:rPr>
              <a:t>5,400</a:t>
            </a:r>
            <a:r>
              <a:rPr kumimoji="1" lang="en-US" altLang="zh-TW" sz="1800" dirty="0">
                <a:latin typeface="Microsoft JhengHei" panose="020B0604030504040204" pitchFamily="34" charset="-120"/>
                <a:ea typeface="Microsoft JhengHei" panose="020B0604030504040204" pitchFamily="34" charset="-120"/>
              </a:rPr>
              <a:t> - </a:t>
            </a:r>
            <a:r>
              <a:rPr kumimoji="1" lang="en-US" altLang="zh-TW" sz="1800" dirty="0">
                <a:highlight>
                  <a:srgbClr val="00FF00"/>
                </a:highlight>
                <a:latin typeface="Microsoft JhengHei" panose="020B0604030504040204" pitchFamily="34" charset="-120"/>
                <a:ea typeface="Microsoft JhengHei" panose="020B0604030504040204" pitchFamily="34" charset="-120"/>
              </a:rPr>
              <a:t>5,400</a:t>
            </a:r>
          </a:p>
          <a:p>
            <a:r>
              <a:rPr kumimoji="1" lang="en-US" altLang="zh-TW" dirty="0">
                <a:latin typeface="Microsoft JhengHei" panose="020B0604030504040204" pitchFamily="34" charset="-120"/>
                <a:ea typeface="Microsoft JhengHei" panose="020B0604030504040204" pitchFamily="34" charset="-120"/>
              </a:rPr>
              <a:t>=</a:t>
            </a:r>
            <a:r>
              <a:rPr lang="en-US" altLang="zh-TW" b="0" i="0" u="none" strike="noStrike" dirty="0">
                <a:solidFill>
                  <a:srgbClr val="1F1F1F"/>
                </a:solidFill>
                <a:effectLst/>
                <a:latin typeface="arial" panose="020B0604020202020204" pitchFamily="34" charset="0"/>
              </a:rPr>
              <a:t>49,200</a:t>
            </a:r>
            <a:endParaRPr kumimoji="1" lang="en-US" altLang="zh-TW" sz="1800" dirty="0">
              <a:latin typeface="Microsoft JhengHei" panose="020B0604030504040204" pitchFamily="34" charset="-120"/>
              <a:ea typeface="Microsoft JhengHei" panose="020B0604030504040204" pitchFamily="34" charset="-120"/>
            </a:endParaRPr>
          </a:p>
        </p:txBody>
      </p:sp>
      <p:sp>
        <p:nvSpPr>
          <p:cNvPr id="58" name="標題 57">
            <a:extLst>
              <a:ext uri="{FF2B5EF4-FFF2-40B4-BE49-F238E27FC236}">
                <a16:creationId xmlns:a16="http://schemas.microsoft.com/office/drawing/2014/main" id="{B344C882-A237-8713-8974-0A48EF7A0109}"/>
              </a:ext>
            </a:extLst>
          </p:cNvPr>
          <p:cNvSpPr>
            <a:spLocks noGrp="1"/>
          </p:cNvSpPr>
          <p:nvPr>
            <p:ph type="title"/>
          </p:nvPr>
        </p:nvSpPr>
        <p:spPr>
          <a:xfrm>
            <a:off x="835979" y="283021"/>
            <a:ext cx="10515600" cy="678186"/>
          </a:xfrm>
        </p:spPr>
        <p:txBody>
          <a:bodyPr>
            <a:normAutofit fontScale="90000"/>
          </a:bodyPr>
          <a:lstStyle/>
          <a:p>
            <a:r>
              <a:rPr lang="zh-TW" altLang="en-US" dirty="0"/>
              <a:t>範例：成立股市投資銀行</a:t>
            </a:r>
          </a:p>
        </p:txBody>
      </p:sp>
      <p:sp>
        <p:nvSpPr>
          <p:cNvPr id="60" name="文字方塊 59">
            <a:extLst>
              <a:ext uri="{FF2B5EF4-FFF2-40B4-BE49-F238E27FC236}">
                <a16:creationId xmlns:a16="http://schemas.microsoft.com/office/drawing/2014/main" id="{38F56317-58D2-F555-4F5D-F72CF3397BEC}"/>
              </a:ext>
            </a:extLst>
          </p:cNvPr>
          <p:cNvSpPr txBox="1"/>
          <p:nvPr/>
        </p:nvSpPr>
        <p:spPr>
          <a:xfrm>
            <a:off x="44032" y="5425111"/>
            <a:ext cx="5225587" cy="523220"/>
          </a:xfrm>
          <a:prstGeom prst="rect">
            <a:avLst/>
          </a:prstGeom>
          <a:noFill/>
        </p:spPr>
        <p:txBody>
          <a:bodyPr wrap="square" rtlCol="0">
            <a:spAutoFit/>
          </a:bodyPr>
          <a:lstStyle/>
          <a:p>
            <a:pPr marL="285750" indent="-285750">
              <a:buFont typeface="Arial" panose="020B0604020202020204" pitchFamily="34" charset="0"/>
              <a:buChar char="•"/>
            </a:pPr>
            <a:r>
              <a:rPr kumimoji="1" lang="zh-TW" altLang="en-US" sz="1400" dirty="0">
                <a:latin typeface="Microsoft JhengHei" panose="020B0604030504040204" pitchFamily="34" charset="-120"/>
                <a:ea typeface="Microsoft JhengHei" panose="020B0604030504040204" pitchFamily="34" charset="-120"/>
              </a:rPr>
              <a:t>銀行發給存戶存摺，紀錄存在銀行的資金，憑存摺取款</a:t>
            </a:r>
            <a:endParaRPr kumimoji="1" lang="en-US" altLang="zh-TW" sz="1400" dirty="0">
              <a:latin typeface="Microsoft JhengHei" panose="020B0604030504040204" pitchFamily="34" charset="-120"/>
              <a:ea typeface="Microsoft JhengHei" panose="020B0604030504040204" pitchFamily="34" charset="-120"/>
            </a:endParaRPr>
          </a:p>
          <a:p>
            <a:pPr marL="285750" indent="-285750">
              <a:buFont typeface="Arial" panose="020B0604020202020204" pitchFamily="34" charset="0"/>
              <a:buChar char="•"/>
            </a:pPr>
            <a:r>
              <a:rPr kumimoji="1" lang="zh-TW" altLang="en-US" sz="1400" dirty="0">
                <a:latin typeface="Microsoft JhengHei" panose="020B0604030504040204" pitchFamily="34" charset="-120"/>
                <a:ea typeface="Microsoft JhengHei" panose="020B0604030504040204" pitchFamily="34" charset="-120"/>
              </a:rPr>
              <a:t>若銀行把錢都拿去投資，存戶領不出錢，需要加倍賠償存戶</a:t>
            </a:r>
          </a:p>
        </p:txBody>
      </p:sp>
      <p:sp>
        <p:nvSpPr>
          <p:cNvPr id="17" name="文字方塊 16">
            <a:extLst>
              <a:ext uri="{FF2B5EF4-FFF2-40B4-BE49-F238E27FC236}">
                <a16:creationId xmlns:a16="http://schemas.microsoft.com/office/drawing/2014/main" id="{F318D34F-A107-EC93-7120-2001EAC9DE21}"/>
              </a:ext>
            </a:extLst>
          </p:cNvPr>
          <p:cNvSpPr txBox="1"/>
          <p:nvPr/>
        </p:nvSpPr>
        <p:spPr>
          <a:xfrm>
            <a:off x="338894" y="5926567"/>
            <a:ext cx="4737194" cy="738664"/>
          </a:xfrm>
          <a:prstGeom prst="rect">
            <a:avLst/>
          </a:prstGeom>
          <a:noFill/>
        </p:spPr>
        <p:txBody>
          <a:bodyPr wrap="none" rtlCol="0">
            <a:spAutoFit/>
          </a:bodyPr>
          <a:lstStyle/>
          <a:p>
            <a:r>
              <a:rPr kumimoji="1" lang="zh-TW" altLang="en-US" sz="1400" b="1" dirty="0">
                <a:highlight>
                  <a:srgbClr val="FFFF00"/>
                </a:highlight>
              </a:rPr>
              <a:t>客戶如果領不出錢，客戶跟助教舉報成立後</a:t>
            </a:r>
          </a:p>
          <a:p>
            <a:r>
              <a:rPr kumimoji="1" lang="zh-TW" altLang="en-US" sz="1400" dirty="0">
                <a:highlight>
                  <a:srgbClr val="FFFF00"/>
                </a:highlight>
              </a:rPr>
              <a:t>賠償給客戶：</a:t>
            </a:r>
            <a:r>
              <a:rPr kumimoji="1" lang="en-US" altLang="zh-TW" sz="1400" dirty="0">
                <a:highlight>
                  <a:srgbClr val="FFFF00"/>
                </a:highlight>
              </a:rPr>
              <a:t>10%</a:t>
            </a:r>
            <a:r>
              <a:rPr kumimoji="1" lang="zh-TW" altLang="en-US" sz="1400" dirty="0">
                <a:highlight>
                  <a:srgbClr val="FFFF00"/>
                </a:highlight>
              </a:rPr>
              <a:t>存款</a:t>
            </a:r>
            <a:endParaRPr kumimoji="1" lang="en-US" altLang="zh-TW" sz="1400" dirty="0">
              <a:highlight>
                <a:srgbClr val="FFFF00"/>
              </a:highlight>
            </a:endParaRPr>
          </a:p>
          <a:p>
            <a:r>
              <a:rPr kumimoji="1" lang="zh-TW" altLang="en-US" sz="1400" dirty="0">
                <a:highlight>
                  <a:srgbClr val="FFFF00"/>
                </a:highlight>
              </a:rPr>
              <a:t>罰款給天使：</a:t>
            </a:r>
            <a:r>
              <a:rPr kumimoji="1" lang="en-US" altLang="zh-TW" sz="1400" dirty="0">
                <a:highlight>
                  <a:srgbClr val="FFFF00"/>
                </a:highlight>
              </a:rPr>
              <a:t>max(50%*(</a:t>
            </a:r>
            <a:r>
              <a:rPr kumimoji="1" lang="zh-TW" altLang="en-US" sz="1400" dirty="0">
                <a:highlight>
                  <a:srgbClr val="FFFF00"/>
                </a:highlight>
              </a:rPr>
              <a:t>未實現投資金額</a:t>
            </a:r>
            <a:r>
              <a:rPr kumimoji="1" lang="en-US" altLang="zh-TW" sz="1400" dirty="0">
                <a:highlight>
                  <a:srgbClr val="FFFF00"/>
                </a:highlight>
              </a:rPr>
              <a:t>+</a:t>
            </a:r>
            <a:r>
              <a:rPr kumimoji="1" lang="zh-TW" altLang="en-US" sz="1400" dirty="0">
                <a:highlight>
                  <a:srgbClr val="FFFF00"/>
                </a:highlight>
              </a:rPr>
              <a:t>現金</a:t>
            </a:r>
            <a:r>
              <a:rPr kumimoji="1" lang="en-US" altLang="zh-TW" sz="1400" dirty="0">
                <a:highlight>
                  <a:srgbClr val="FFFF00"/>
                </a:highlight>
              </a:rPr>
              <a:t>), </a:t>
            </a:r>
            <a:r>
              <a:rPr kumimoji="1" lang="zh-TW" altLang="en-US" sz="1400" dirty="0">
                <a:highlight>
                  <a:srgbClr val="FFFF00"/>
                </a:highlight>
              </a:rPr>
              <a:t>啟動資金</a:t>
            </a:r>
            <a:r>
              <a:rPr kumimoji="1" lang="en-US" altLang="zh-TW" sz="1400" dirty="0">
                <a:highlight>
                  <a:srgbClr val="FFFF00"/>
                </a:highlight>
              </a:rPr>
              <a:t>)</a:t>
            </a:r>
          </a:p>
        </p:txBody>
      </p:sp>
    </p:spTree>
    <p:extLst>
      <p:ext uri="{BB962C8B-B14F-4D97-AF65-F5344CB8AC3E}">
        <p14:creationId xmlns:p14="http://schemas.microsoft.com/office/powerpoint/2010/main" val="2390365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FCB70E-0C75-D3AC-5CAC-60B1E4F756D1}"/>
              </a:ext>
            </a:extLst>
          </p:cNvPr>
          <p:cNvSpPr>
            <a:spLocks noGrp="1"/>
          </p:cNvSpPr>
          <p:nvPr>
            <p:ph type="title"/>
          </p:nvPr>
        </p:nvSpPr>
        <p:spPr/>
        <p:txBody>
          <a:bodyPr/>
          <a:lstStyle/>
          <a:p>
            <a:r>
              <a:rPr lang="zh-TW" altLang="en-US" sz="4400" b="0" i="0" u="none" strike="noStrike" dirty="0">
                <a:solidFill>
                  <a:srgbClr val="0D0D0D"/>
                </a:solidFill>
                <a:effectLst/>
                <a:latin typeface="Microsoft JhengHei" panose="020B0604030504040204" pitchFamily="34" charset="-120"/>
                <a:ea typeface="Microsoft JhengHei" panose="020B0604030504040204" pitchFamily="34" charset="-120"/>
              </a:rPr>
              <a:t>銀行準備金</a:t>
            </a:r>
            <a:endParaRPr kumimoji="1" lang="zh-TW" altLang="en-US" dirty="0"/>
          </a:p>
        </p:txBody>
      </p:sp>
      <p:sp>
        <p:nvSpPr>
          <p:cNvPr id="6" name="內容版面配置區 5">
            <a:extLst>
              <a:ext uri="{FF2B5EF4-FFF2-40B4-BE49-F238E27FC236}">
                <a16:creationId xmlns:a16="http://schemas.microsoft.com/office/drawing/2014/main" id="{D6226798-7771-7004-A949-568C378B380F}"/>
              </a:ext>
            </a:extLst>
          </p:cNvPr>
          <p:cNvSpPr>
            <a:spLocks noGrp="1"/>
          </p:cNvSpPr>
          <p:nvPr>
            <p:ph idx="1"/>
          </p:nvPr>
        </p:nvSpPr>
        <p:spPr/>
        <p:txBody>
          <a:bodyPr>
            <a:normAutofit/>
          </a:bodyPr>
          <a:lstStyle/>
          <a:p>
            <a:pPr algn="l"/>
            <a:r>
              <a:rPr lang="zh-TW" altLang="en-US" sz="2400" b="0" i="0" u="none" strike="noStrike" dirty="0">
                <a:solidFill>
                  <a:srgbClr val="0D0D0D"/>
                </a:solidFill>
                <a:effectLst/>
                <a:latin typeface="Microsoft JhengHei" panose="020B0604030504040204" pitchFamily="34" charset="-120"/>
                <a:ea typeface="Microsoft JhengHei" panose="020B0604030504040204" pitchFamily="34" charset="-120"/>
              </a:rPr>
              <a:t>半澤直樹提到的銀行準備金指的是銀行根據當地法規和中央銀行的要求，需要保留的一定比例的存款或資產，以應對可能發生的存款提款、風險和其他財務需求。這是一種金融穩定和風險管理的措施。</a:t>
            </a:r>
          </a:p>
          <a:p>
            <a:pPr algn="l"/>
            <a:r>
              <a:rPr lang="zh-TW" altLang="en-US" sz="2400" b="0" i="0" u="none" strike="noStrike" dirty="0">
                <a:solidFill>
                  <a:srgbClr val="0D0D0D"/>
                </a:solidFill>
                <a:effectLst/>
                <a:latin typeface="Microsoft JhengHei" panose="020B0604030504040204" pitchFamily="34" charset="-120"/>
                <a:ea typeface="Microsoft JhengHei" panose="020B0604030504040204" pitchFamily="34" charset="-120"/>
              </a:rPr>
              <a:t>舉例來說，假設一家銀行根據當地監管機構的要求，必須保留存款的</a:t>
            </a:r>
            <a:r>
              <a:rPr lang="en-US" altLang="zh-TW" sz="2400" b="0" i="0" u="none" strike="noStrike" dirty="0">
                <a:solidFill>
                  <a:srgbClr val="0D0D0D"/>
                </a:solidFill>
                <a:effectLst/>
                <a:latin typeface="Microsoft JhengHei" panose="020B0604030504040204" pitchFamily="34" charset="-120"/>
                <a:ea typeface="Microsoft JhengHei" panose="020B0604030504040204" pitchFamily="34" charset="-120"/>
              </a:rPr>
              <a:t>10%</a:t>
            </a:r>
            <a:r>
              <a:rPr lang="zh-TW" altLang="en-US" sz="2400" b="0" i="0" u="none" strike="noStrike" dirty="0">
                <a:solidFill>
                  <a:srgbClr val="0D0D0D"/>
                </a:solidFill>
                <a:effectLst/>
                <a:latin typeface="Microsoft JhengHei" panose="020B0604030504040204" pitchFamily="34" charset="-120"/>
                <a:ea typeface="Microsoft JhengHei" panose="020B0604030504040204" pitchFamily="34" charset="-120"/>
              </a:rPr>
              <a:t>作為準備金。如果某一天這家銀行的總存款為</a:t>
            </a:r>
            <a:r>
              <a:rPr lang="en-US" altLang="zh-TW" sz="2400" b="0" i="0" u="none" strike="noStrike" dirty="0">
                <a:solidFill>
                  <a:srgbClr val="0D0D0D"/>
                </a:solidFill>
                <a:effectLst/>
                <a:latin typeface="Microsoft JhengHei" panose="020B0604030504040204" pitchFamily="34" charset="-120"/>
                <a:ea typeface="Microsoft JhengHei" panose="020B0604030504040204" pitchFamily="34" charset="-120"/>
              </a:rPr>
              <a:t>1000</a:t>
            </a:r>
            <a:r>
              <a:rPr lang="zh-TW" altLang="en-US" sz="2400" b="0" i="0" u="none" strike="noStrike" dirty="0">
                <a:solidFill>
                  <a:srgbClr val="0D0D0D"/>
                </a:solidFill>
                <a:effectLst/>
                <a:latin typeface="Microsoft JhengHei" panose="020B0604030504040204" pitchFamily="34" charset="-120"/>
                <a:ea typeface="Microsoft JhengHei" panose="020B0604030504040204" pitchFamily="34" charset="-120"/>
              </a:rPr>
              <a:t>萬元，那麼根據準備金規定，它需要將</a:t>
            </a:r>
            <a:r>
              <a:rPr lang="en-US" altLang="zh-TW" sz="2400" b="0" i="0" u="none" strike="noStrike" dirty="0">
                <a:solidFill>
                  <a:srgbClr val="0D0D0D"/>
                </a:solidFill>
                <a:effectLst/>
                <a:latin typeface="Microsoft JhengHei" panose="020B0604030504040204" pitchFamily="34" charset="-120"/>
                <a:ea typeface="Microsoft JhengHei" panose="020B0604030504040204" pitchFamily="34" charset="-120"/>
              </a:rPr>
              <a:t>1000</a:t>
            </a:r>
            <a:r>
              <a:rPr lang="zh-TW" altLang="en-US" sz="2400" b="0" i="0" u="none" strike="noStrike" dirty="0">
                <a:solidFill>
                  <a:srgbClr val="0D0D0D"/>
                </a:solidFill>
                <a:effectLst/>
                <a:latin typeface="Microsoft JhengHei" panose="020B0604030504040204" pitchFamily="34" charset="-120"/>
                <a:ea typeface="Microsoft JhengHei" panose="020B0604030504040204" pitchFamily="34" charset="-120"/>
              </a:rPr>
              <a:t>萬元的</a:t>
            </a:r>
            <a:r>
              <a:rPr lang="en-US" altLang="zh-TW" sz="2400" b="0" i="0" u="none" strike="noStrike" dirty="0">
                <a:solidFill>
                  <a:srgbClr val="0D0D0D"/>
                </a:solidFill>
                <a:effectLst/>
                <a:latin typeface="Microsoft JhengHei" panose="020B0604030504040204" pitchFamily="34" charset="-120"/>
                <a:ea typeface="Microsoft JhengHei" panose="020B0604030504040204" pitchFamily="34" charset="-120"/>
              </a:rPr>
              <a:t>10%</a:t>
            </a:r>
            <a:r>
              <a:rPr lang="zh-TW" altLang="en-US" sz="2400" b="0" i="0" u="none" strike="noStrike" dirty="0">
                <a:solidFill>
                  <a:srgbClr val="0D0D0D"/>
                </a:solidFill>
                <a:effectLst/>
                <a:latin typeface="Microsoft JhengHei" panose="020B0604030504040204" pitchFamily="34" charset="-120"/>
                <a:ea typeface="Microsoft JhengHei" panose="020B0604030504040204" pitchFamily="34" charset="-120"/>
              </a:rPr>
              <a:t>，也就是</a:t>
            </a:r>
            <a:r>
              <a:rPr lang="en-US" altLang="zh-TW" sz="2400" b="0" i="0" u="none" strike="noStrike" dirty="0">
                <a:solidFill>
                  <a:srgbClr val="0D0D0D"/>
                </a:solidFill>
                <a:effectLst/>
                <a:latin typeface="Microsoft JhengHei" panose="020B0604030504040204" pitchFamily="34" charset="-120"/>
                <a:ea typeface="Microsoft JhengHei" panose="020B0604030504040204" pitchFamily="34" charset="-120"/>
              </a:rPr>
              <a:t>100</a:t>
            </a:r>
            <a:r>
              <a:rPr lang="zh-TW" altLang="en-US" sz="2400" b="0" i="0" u="none" strike="noStrike" dirty="0">
                <a:solidFill>
                  <a:srgbClr val="0D0D0D"/>
                </a:solidFill>
                <a:effectLst/>
                <a:latin typeface="Microsoft JhengHei" panose="020B0604030504040204" pitchFamily="34" charset="-120"/>
                <a:ea typeface="Microsoft JhengHei" panose="020B0604030504040204" pitchFamily="34" charset="-120"/>
              </a:rPr>
              <a:t>萬元作為準備金，不可用於貸款或其他投資。这样，銀行就能確保即使有部分存款提款，也有足夠的資金來應付。</a:t>
            </a:r>
          </a:p>
          <a:p>
            <a:endParaRPr lang="zh-TW" altLang="en-US" sz="1800" dirty="0">
              <a:latin typeface="Microsoft JhengHei" panose="020B0604030504040204" pitchFamily="34" charset="-120"/>
              <a:ea typeface="Microsoft JhengHei" panose="020B0604030504040204" pitchFamily="34" charset="-120"/>
            </a:endParaRPr>
          </a:p>
        </p:txBody>
      </p:sp>
      <p:pic>
        <p:nvPicPr>
          <p:cNvPr id="7" name="圖片 6">
            <a:extLst>
              <a:ext uri="{FF2B5EF4-FFF2-40B4-BE49-F238E27FC236}">
                <a16:creationId xmlns:a16="http://schemas.microsoft.com/office/drawing/2014/main" id="{14554EE7-026F-C39D-09F5-AEABD514728A}"/>
              </a:ext>
            </a:extLst>
          </p:cNvPr>
          <p:cNvPicPr>
            <a:picLocks noChangeAspect="1"/>
          </p:cNvPicPr>
          <p:nvPr/>
        </p:nvPicPr>
        <p:blipFill>
          <a:blip r:embed="rId2"/>
          <a:stretch>
            <a:fillRect/>
          </a:stretch>
        </p:blipFill>
        <p:spPr>
          <a:xfrm>
            <a:off x="7600333" y="4366743"/>
            <a:ext cx="3753467" cy="2357000"/>
          </a:xfrm>
          <a:prstGeom prst="rect">
            <a:avLst/>
          </a:prstGeom>
        </p:spPr>
      </p:pic>
      <p:pic>
        <p:nvPicPr>
          <p:cNvPr id="8" name="圖片 7">
            <a:extLst>
              <a:ext uri="{FF2B5EF4-FFF2-40B4-BE49-F238E27FC236}">
                <a16:creationId xmlns:a16="http://schemas.microsoft.com/office/drawing/2014/main" id="{8F9C30AC-C6DC-37F1-B4DA-DFD219B28A29}"/>
              </a:ext>
            </a:extLst>
          </p:cNvPr>
          <p:cNvPicPr>
            <a:picLocks noChangeAspect="1"/>
          </p:cNvPicPr>
          <p:nvPr/>
        </p:nvPicPr>
        <p:blipFill>
          <a:blip r:embed="rId3"/>
          <a:stretch>
            <a:fillRect/>
          </a:stretch>
        </p:blipFill>
        <p:spPr>
          <a:xfrm>
            <a:off x="5060333" y="5402943"/>
            <a:ext cx="2540000" cy="1320800"/>
          </a:xfrm>
          <a:prstGeom prst="rect">
            <a:avLst/>
          </a:prstGeom>
        </p:spPr>
      </p:pic>
    </p:spTree>
    <p:extLst>
      <p:ext uri="{BB962C8B-B14F-4D97-AF65-F5344CB8AC3E}">
        <p14:creationId xmlns:p14="http://schemas.microsoft.com/office/powerpoint/2010/main" val="19723294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D29EEB-7227-7132-4B3D-98BD7E5356A2}"/>
              </a:ext>
            </a:extLst>
          </p:cNvPr>
          <p:cNvSpPr>
            <a:spLocks noGrp="1"/>
          </p:cNvSpPr>
          <p:nvPr>
            <p:ph type="title"/>
          </p:nvPr>
        </p:nvSpPr>
        <p:spPr/>
        <p:txBody>
          <a:bodyPr>
            <a:normAutofit/>
          </a:bodyPr>
          <a:lstStyle/>
          <a:p>
            <a:r>
              <a:rPr kumimoji="1" lang="en-US" altLang="zh-TW" dirty="0"/>
              <a:t>ETF</a:t>
            </a:r>
            <a:endParaRPr kumimoji="1" lang="zh-TW" altLang="en-US" dirty="0"/>
          </a:p>
        </p:txBody>
      </p:sp>
      <p:sp>
        <p:nvSpPr>
          <p:cNvPr id="3" name="內容版面配置區 2">
            <a:extLst>
              <a:ext uri="{FF2B5EF4-FFF2-40B4-BE49-F238E27FC236}">
                <a16:creationId xmlns:a16="http://schemas.microsoft.com/office/drawing/2014/main" id="{835010E7-1C35-4707-9D5A-55229ADB4E22}"/>
              </a:ext>
            </a:extLst>
          </p:cNvPr>
          <p:cNvSpPr>
            <a:spLocks noGrp="1"/>
          </p:cNvSpPr>
          <p:nvPr>
            <p:ph idx="1"/>
          </p:nvPr>
        </p:nvSpPr>
        <p:spPr>
          <a:xfrm>
            <a:off x="228600" y="1836511"/>
            <a:ext cx="8022771" cy="4351338"/>
          </a:xfrm>
        </p:spPr>
        <p:txBody>
          <a:bodyPr>
            <a:normAutofit/>
          </a:bodyPr>
          <a:lstStyle/>
          <a:p>
            <a:pPr>
              <a:lnSpc>
                <a:spcPct val="150000"/>
              </a:lnSpc>
            </a:pPr>
            <a:r>
              <a:rPr lang="en-US" altLang="zh-TW" sz="2000" b="0" i="0" u="none" strike="noStrike" dirty="0">
                <a:solidFill>
                  <a:srgbClr val="0D0D0D"/>
                </a:solidFill>
                <a:effectLst/>
                <a:latin typeface="Söhne"/>
              </a:rPr>
              <a:t>ETF</a:t>
            </a:r>
            <a:r>
              <a:rPr lang="zh-TW" altLang="en-US" sz="2000" b="0" i="0" u="none" strike="noStrike" dirty="0">
                <a:solidFill>
                  <a:srgbClr val="0D0D0D"/>
                </a:solidFill>
                <a:effectLst/>
                <a:latin typeface="Söhne"/>
              </a:rPr>
              <a:t>是「交易型基金」的縮寫，它是一種投資工具，可以讓投資者購買和持有一個組合的資產，就像股票一樣在證券市場上進行交易。</a:t>
            </a:r>
            <a:endParaRPr lang="en-US" altLang="zh-TW" sz="2000" b="0" i="0" u="none" strike="noStrike" dirty="0">
              <a:solidFill>
                <a:srgbClr val="0D0D0D"/>
              </a:solidFill>
              <a:effectLst/>
              <a:latin typeface="Söhne"/>
            </a:endParaRPr>
          </a:p>
          <a:p>
            <a:pPr>
              <a:lnSpc>
                <a:spcPct val="150000"/>
              </a:lnSpc>
            </a:pPr>
            <a:r>
              <a:rPr lang="en-US" altLang="zh-TW" sz="2000" b="0" i="0" u="none" strike="noStrike" dirty="0">
                <a:solidFill>
                  <a:srgbClr val="0D0D0D"/>
                </a:solidFill>
                <a:effectLst/>
                <a:latin typeface="Söhne"/>
              </a:rPr>
              <a:t>0050</a:t>
            </a:r>
            <a:r>
              <a:rPr lang="zh-TW" altLang="en-US" sz="2000" b="0" i="0" u="none" strike="noStrike" dirty="0">
                <a:solidFill>
                  <a:srgbClr val="0D0D0D"/>
                </a:solidFill>
                <a:effectLst/>
                <a:latin typeface="Söhne"/>
              </a:rPr>
              <a:t>是台灣股市中的一檔</a:t>
            </a:r>
            <a:r>
              <a:rPr lang="en-US" altLang="zh-TW" sz="2000" b="0" i="0" u="none" strike="noStrike" dirty="0">
                <a:solidFill>
                  <a:srgbClr val="0D0D0D"/>
                </a:solidFill>
                <a:effectLst/>
                <a:latin typeface="Söhne"/>
              </a:rPr>
              <a:t>ETF</a:t>
            </a:r>
            <a:r>
              <a:rPr lang="zh-TW" altLang="en-US" sz="2000" b="0" i="0" u="none" strike="noStrike" dirty="0">
                <a:solidFill>
                  <a:srgbClr val="0D0D0D"/>
                </a:solidFill>
                <a:effectLst/>
                <a:latin typeface="Söhne"/>
              </a:rPr>
              <a:t>，代表著元大台灣</a:t>
            </a:r>
            <a:r>
              <a:rPr lang="en-US" altLang="zh-TW" sz="2000" b="0" i="0" u="none" strike="noStrike" dirty="0">
                <a:solidFill>
                  <a:srgbClr val="0D0D0D"/>
                </a:solidFill>
                <a:effectLst/>
                <a:latin typeface="Söhne"/>
              </a:rPr>
              <a:t>50</a:t>
            </a:r>
            <a:r>
              <a:rPr lang="zh-TW" altLang="en-US" sz="2000" b="0" i="0" u="none" strike="noStrike" dirty="0">
                <a:solidFill>
                  <a:srgbClr val="0D0D0D"/>
                </a:solidFill>
                <a:effectLst/>
                <a:latin typeface="Söhne"/>
              </a:rPr>
              <a:t>指數基金，它追蹤台灣</a:t>
            </a:r>
            <a:r>
              <a:rPr lang="en-US" altLang="zh-TW" sz="2000" b="0" i="0" u="none" strike="noStrike" dirty="0">
                <a:solidFill>
                  <a:srgbClr val="0D0D0D"/>
                </a:solidFill>
                <a:effectLst/>
                <a:latin typeface="Söhne"/>
              </a:rPr>
              <a:t>50</a:t>
            </a:r>
            <a:r>
              <a:rPr lang="zh-TW" altLang="en-US" sz="2000" b="0" i="0" u="none" strike="noStrike" dirty="0">
                <a:solidFill>
                  <a:srgbClr val="0D0D0D"/>
                </a:solidFill>
                <a:effectLst/>
                <a:latin typeface="Söhne"/>
              </a:rPr>
              <a:t>指數的表現，持有該指數中的成分股，投資者可以透過購買</a:t>
            </a:r>
            <a:r>
              <a:rPr lang="en-US" altLang="zh-TW" sz="2000" b="0" i="0" u="none" strike="noStrike" dirty="0">
                <a:solidFill>
                  <a:srgbClr val="0D0D0D"/>
                </a:solidFill>
                <a:effectLst/>
                <a:latin typeface="Söhne"/>
              </a:rPr>
              <a:t>0050 ETF</a:t>
            </a:r>
            <a:r>
              <a:rPr lang="zh-TW" altLang="en-US" sz="2000" b="0" i="0" u="none" strike="noStrike" dirty="0">
                <a:solidFill>
                  <a:srgbClr val="0D0D0D"/>
                </a:solidFill>
                <a:effectLst/>
                <a:latin typeface="Söhne"/>
              </a:rPr>
              <a:t>來參與台灣股市中大型企業的表現。</a:t>
            </a:r>
            <a:endParaRPr kumimoji="1" lang="zh-TW" altLang="en-US" sz="2000" dirty="0"/>
          </a:p>
        </p:txBody>
      </p:sp>
      <p:pic>
        <p:nvPicPr>
          <p:cNvPr id="4" name="圖片 3">
            <a:extLst>
              <a:ext uri="{FF2B5EF4-FFF2-40B4-BE49-F238E27FC236}">
                <a16:creationId xmlns:a16="http://schemas.microsoft.com/office/drawing/2014/main" id="{D99E5077-8F01-48D1-D9F5-CFE97FCEC64E}"/>
              </a:ext>
            </a:extLst>
          </p:cNvPr>
          <p:cNvPicPr>
            <a:picLocks noChangeAspect="1"/>
          </p:cNvPicPr>
          <p:nvPr/>
        </p:nvPicPr>
        <p:blipFill>
          <a:blip r:embed="rId2"/>
          <a:stretch>
            <a:fillRect/>
          </a:stretch>
        </p:blipFill>
        <p:spPr>
          <a:xfrm>
            <a:off x="7464879" y="4012180"/>
            <a:ext cx="2387600" cy="2781300"/>
          </a:xfrm>
          <a:prstGeom prst="rect">
            <a:avLst/>
          </a:prstGeom>
        </p:spPr>
      </p:pic>
      <p:pic>
        <p:nvPicPr>
          <p:cNvPr id="5" name="圖片 4">
            <a:extLst>
              <a:ext uri="{FF2B5EF4-FFF2-40B4-BE49-F238E27FC236}">
                <a16:creationId xmlns:a16="http://schemas.microsoft.com/office/drawing/2014/main" id="{FE024BAF-27A1-7CB7-FF30-88DFB22ACC01}"/>
              </a:ext>
            </a:extLst>
          </p:cNvPr>
          <p:cNvPicPr>
            <a:picLocks noChangeAspect="1"/>
          </p:cNvPicPr>
          <p:nvPr/>
        </p:nvPicPr>
        <p:blipFill>
          <a:blip r:embed="rId3"/>
          <a:stretch>
            <a:fillRect/>
          </a:stretch>
        </p:blipFill>
        <p:spPr>
          <a:xfrm>
            <a:off x="9847338" y="1690688"/>
            <a:ext cx="2116062" cy="4351339"/>
          </a:xfrm>
          <a:prstGeom prst="rect">
            <a:avLst/>
          </a:prstGeom>
        </p:spPr>
      </p:pic>
    </p:spTree>
    <p:extLst>
      <p:ext uri="{BB962C8B-B14F-4D97-AF65-F5344CB8AC3E}">
        <p14:creationId xmlns:p14="http://schemas.microsoft.com/office/powerpoint/2010/main" val="3561493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4">
            <a:extLst>
              <a:ext uri="{FF2B5EF4-FFF2-40B4-BE49-F238E27FC236}">
                <a16:creationId xmlns:a16="http://schemas.microsoft.com/office/drawing/2014/main" id="{40B936EE-DA38-471B-A695-C931411E55D3}"/>
              </a:ext>
            </a:extLst>
          </p:cNvPr>
          <p:cNvPicPr>
            <a:picLocks noGrp="1" noChangeAspect="1"/>
          </p:cNvPicPr>
          <p:nvPr>
            <p:ph idx="1"/>
          </p:nvPr>
        </p:nvPicPr>
        <p:blipFill>
          <a:blip r:embed="rId2"/>
          <a:stretch>
            <a:fillRect/>
          </a:stretch>
        </p:blipFill>
        <p:spPr>
          <a:xfrm>
            <a:off x="741478" y="1536974"/>
            <a:ext cx="8250123" cy="5321026"/>
          </a:xfrm>
        </p:spPr>
      </p:pic>
      <p:sp>
        <p:nvSpPr>
          <p:cNvPr id="6" name="標題 1">
            <a:extLst>
              <a:ext uri="{FF2B5EF4-FFF2-40B4-BE49-F238E27FC236}">
                <a16:creationId xmlns:a16="http://schemas.microsoft.com/office/drawing/2014/main" id="{B550FB83-E9E9-426A-9B54-F21C461FA4FC}"/>
              </a:ext>
            </a:extLst>
          </p:cNvPr>
          <p:cNvSpPr>
            <a:spLocks noGrp="1"/>
          </p:cNvSpPr>
          <p:nvPr>
            <p:ph type="title"/>
          </p:nvPr>
        </p:nvSpPr>
        <p:spPr>
          <a:xfrm>
            <a:off x="838200" y="365125"/>
            <a:ext cx="10515600" cy="1325563"/>
          </a:xfrm>
        </p:spPr>
        <p:txBody>
          <a:bodyPr>
            <a:normAutofit/>
          </a:bodyPr>
          <a:lstStyle/>
          <a:p>
            <a:r>
              <a:rPr kumimoji="1" lang="en-US" altLang="zh-TW" dirty="0"/>
              <a:t>ETF</a:t>
            </a:r>
            <a:endParaRPr kumimoji="1" lang="zh-TW" altLang="en-US" dirty="0"/>
          </a:p>
        </p:txBody>
      </p:sp>
    </p:spTree>
    <p:extLst>
      <p:ext uri="{BB962C8B-B14F-4D97-AF65-F5344CB8AC3E}">
        <p14:creationId xmlns:p14="http://schemas.microsoft.com/office/powerpoint/2010/main" val="1092089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30DACCB-9704-88BC-3C08-5BA4C0ED3C69}"/>
              </a:ext>
            </a:extLst>
          </p:cNvPr>
          <p:cNvSpPr>
            <a:spLocks noGrp="1"/>
          </p:cNvSpPr>
          <p:nvPr>
            <p:ph type="title"/>
          </p:nvPr>
        </p:nvSpPr>
        <p:spPr>
          <a:xfrm>
            <a:off x="838200" y="365126"/>
            <a:ext cx="10515600" cy="832304"/>
          </a:xfrm>
        </p:spPr>
        <p:txBody>
          <a:bodyPr/>
          <a:lstStyle/>
          <a:p>
            <a:r>
              <a:rPr lang="zh-TW" altLang="en-US" dirty="0"/>
              <a:t>範例：發行</a:t>
            </a:r>
            <a:r>
              <a:rPr lang="en-US" altLang="zh-TW" dirty="0"/>
              <a:t>ETF</a:t>
            </a:r>
            <a:endParaRPr kumimoji="1" lang="zh-TW" altLang="en-US" dirty="0"/>
          </a:p>
        </p:txBody>
      </p:sp>
      <p:sp>
        <p:nvSpPr>
          <p:cNvPr id="3" name="內容版面配置區 2">
            <a:extLst>
              <a:ext uri="{FF2B5EF4-FFF2-40B4-BE49-F238E27FC236}">
                <a16:creationId xmlns:a16="http://schemas.microsoft.com/office/drawing/2014/main" id="{2DFAAB15-F5F6-6E09-44AD-03C6A03B10DB}"/>
              </a:ext>
            </a:extLst>
          </p:cNvPr>
          <p:cNvSpPr>
            <a:spLocks noGrp="1"/>
          </p:cNvSpPr>
          <p:nvPr>
            <p:ph idx="1"/>
          </p:nvPr>
        </p:nvSpPr>
        <p:spPr>
          <a:xfrm>
            <a:off x="838200" y="1415143"/>
            <a:ext cx="10515600" cy="4761820"/>
          </a:xfrm>
        </p:spPr>
        <p:txBody>
          <a:bodyPr/>
          <a:lstStyle/>
          <a:p>
            <a:r>
              <a:rPr kumimoji="1" lang="zh-TW" altLang="en-US" dirty="0"/>
              <a:t>篩選出特定個股，組合一出檔 </a:t>
            </a:r>
            <a:r>
              <a:rPr kumimoji="1" lang="en-US" altLang="zh-TW" dirty="0"/>
              <a:t>ETF</a:t>
            </a:r>
          </a:p>
          <a:p>
            <a:r>
              <a:rPr kumimoji="1" lang="zh-TW" altLang="en-US" dirty="0"/>
              <a:t>開發交易平台</a:t>
            </a:r>
            <a:endParaRPr kumimoji="1" lang="en-US" altLang="zh-TW" dirty="0"/>
          </a:p>
          <a:p>
            <a:r>
              <a:rPr kumimoji="1" lang="zh-TW" altLang="en-US" dirty="0"/>
              <a:t>從投資人手中賺取</a:t>
            </a:r>
            <a:r>
              <a:rPr kumimoji="1" lang="zh-TW" altLang="en-US" b="1" u="sng" dirty="0"/>
              <a:t>交易手續費、管理費</a:t>
            </a:r>
            <a:endParaRPr kumimoji="1" lang="en-US" altLang="zh-TW" b="1" u="sng" dirty="0"/>
          </a:p>
          <a:p>
            <a:endParaRPr kumimoji="1" lang="zh-TW" altLang="en-US" dirty="0"/>
          </a:p>
        </p:txBody>
      </p:sp>
      <p:sp>
        <p:nvSpPr>
          <p:cNvPr id="5" name="文字方塊 4">
            <a:extLst>
              <a:ext uri="{FF2B5EF4-FFF2-40B4-BE49-F238E27FC236}">
                <a16:creationId xmlns:a16="http://schemas.microsoft.com/office/drawing/2014/main" id="{7AB89C52-9E71-E0E4-50BE-346136D7B2DD}"/>
              </a:ext>
            </a:extLst>
          </p:cNvPr>
          <p:cNvSpPr txBox="1"/>
          <p:nvPr/>
        </p:nvSpPr>
        <p:spPr>
          <a:xfrm>
            <a:off x="4855029" y="2967335"/>
            <a:ext cx="6096000" cy="923330"/>
          </a:xfrm>
          <a:prstGeom prst="rect">
            <a:avLst/>
          </a:prstGeom>
          <a:noFill/>
        </p:spPr>
        <p:txBody>
          <a:bodyPr wrap="square">
            <a:spAutoFit/>
          </a:bodyPr>
          <a:lstStyle/>
          <a:p>
            <a:r>
              <a:rPr lang="zh-TW" altLang="en-US" b="0" i="0" u="none" strike="noStrike" dirty="0">
                <a:solidFill>
                  <a:srgbClr val="0D0D0D"/>
                </a:solidFill>
                <a:effectLst/>
                <a:latin typeface="Söhne"/>
              </a:rPr>
              <a:t>基金管理費是投資者持有基金時需支付給基金管理公司的費用，用以支付基金管理公司管理投資組合的成本，包括基金經理人的薪酬、行政費用、營銷費用等。</a:t>
            </a:r>
            <a:endParaRPr lang="zh-TW" altLang="en-US" dirty="0"/>
          </a:p>
        </p:txBody>
      </p:sp>
    </p:spTree>
    <p:extLst>
      <p:ext uri="{BB962C8B-B14F-4D97-AF65-F5344CB8AC3E}">
        <p14:creationId xmlns:p14="http://schemas.microsoft.com/office/powerpoint/2010/main" val="42836701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群組 19">
            <a:extLst>
              <a:ext uri="{FF2B5EF4-FFF2-40B4-BE49-F238E27FC236}">
                <a16:creationId xmlns:a16="http://schemas.microsoft.com/office/drawing/2014/main" id="{E858FE17-4E4C-F7C3-B5D0-B2FF3D4B09BA}"/>
              </a:ext>
            </a:extLst>
          </p:cNvPr>
          <p:cNvGrpSpPr/>
          <p:nvPr/>
        </p:nvGrpSpPr>
        <p:grpSpPr>
          <a:xfrm>
            <a:off x="399179" y="1224458"/>
            <a:ext cx="2198136" cy="1355375"/>
            <a:chOff x="1259150" y="1597470"/>
            <a:chExt cx="3284324" cy="2025122"/>
          </a:xfrm>
        </p:grpSpPr>
        <p:grpSp>
          <p:nvGrpSpPr>
            <p:cNvPr id="11" name="群組 10">
              <a:extLst>
                <a:ext uri="{FF2B5EF4-FFF2-40B4-BE49-F238E27FC236}">
                  <a16:creationId xmlns:a16="http://schemas.microsoft.com/office/drawing/2014/main" id="{3E844359-CDE0-7D16-2C5F-03282B51083E}"/>
                </a:ext>
              </a:extLst>
            </p:cNvPr>
            <p:cNvGrpSpPr/>
            <p:nvPr/>
          </p:nvGrpSpPr>
          <p:grpSpPr>
            <a:xfrm>
              <a:off x="1306287" y="1597470"/>
              <a:ext cx="3069772" cy="1525021"/>
              <a:chOff x="1861457" y="2250613"/>
              <a:chExt cx="4234543" cy="2103664"/>
            </a:xfrm>
          </p:grpSpPr>
          <p:pic>
            <p:nvPicPr>
              <p:cNvPr id="6" name="圖片 5">
                <a:extLst>
                  <a:ext uri="{FF2B5EF4-FFF2-40B4-BE49-F238E27FC236}">
                    <a16:creationId xmlns:a16="http://schemas.microsoft.com/office/drawing/2014/main" id="{39702650-7517-37D8-F5EB-527B1B7B9AF6}"/>
                  </a:ext>
                </a:extLst>
              </p:cNvPr>
              <p:cNvPicPr>
                <a:picLocks noChangeAspect="1"/>
              </p:cNvPicPr>
              <p:nvPr/>
            </p:nvPicPr>
            <p:blipFill>
              <a:blip r:embed="rId2"/>
              <a:stretch>
                <a:fillRect/>
              </a:stretch>
            </p:blipFill>
            <p:spPr>
              <a:xfrm>
                <a:off x="1861457" y="2250613"/>
                <a:ext cx="1049681" cy="2103664"/>
              </a:xfrm>
              <a:prstGeom prst="rect">
                <a:avLst/>
              </a:prstGeom>
            </p:spPr>
          </p:pic>
          <p:sp>
            <p:nvSpPr>
              <p:cNvPr id="4" name="文字方塊 3">
                <a:extLst>
                  <a:ext uri="{FF2B5EF4-FFF2-40B4-BE49-F238E27FC236}">
                    <a16:creationId xmlns:a16="http://schemas.microsoft.com/office/drawing/2014/main" id="{3EDF0EA2-0157-F500-19B7-E540DB2511FB}"/>
                  </a:ext>
                </a:extLst>
              </p:cNvPr>
              <p:cNvSpPr txBox="1"/>
              <p:nvPr/>
            </p:nvSpPr>
            <p:spPr>
              <a:xfrm>
                <a:off x="2086940" y="2405743"/>
                <a:ext cx="598715" cy="761218"/>
              </a:xfrm>
              <a:prstGeom prst="rect">
                <a:avLst/>
              </a:prstGeom>
              <a:noFill/>
            </p:spPr>
            <p:txBody>
              <a:bodyPr wrap="square" rtlCol="0">
                <a:spAutoFit/>
              </a:bodyPr>
              <a:lstStyle/>
              <a:p>
                <a:pPr algn="ctr"/>
                <a:r>
                  <a:rPr kumimoji="1" lang="en-US" altLang="zh-TW" b="1" dirty="0"/>
                  <a:t>A</a:t>
                </a:r>
                <a:endParaRPr kumimoji="1" lang="zh-TW" altLang="en-US" b="1" dirty="0"/>
              </a:p>
            </p:txBody>
          </p:sp>
          <p:pic>
            <p:nvPicPr>
              <p:cNvPr id="7" name="圖片 6">
                <a:extLst>
                  <a:ext uri="{FF2B5EF4-FFF2-40B4-BE49-F238E27FC236}">
                    <a16:creationId xmlns:a16="http://schemas.microsoft.com/office/drawing/2014/main" id="{61612286-2C80-9021-2BAC-95A583B67212}"/>
                  </a:ext>
                </a:extLst>
              </p:cNvPr>
              <p:cNvPicPr>
                <a:picLocks noChangeAspect="1"/>
              </p:cNvPicPr>
              <p:nvPr/>
            </p:nvPicPr>
            <p:blipFill>
              <a:blip r:embed="rId2"/>
              <a:stretch>
                <a:fillRect/>
              </a:stretch>
            </p:blipFill>
            <p:spPr>
              <a:xfrm>
                <a:off x="3494314" y="2250613"/>
                <a:ext cx="1049681" cy="2103664"/>
              </a:xfrm>
              <a:prstGeom prst="rect">
                <a:avLst/>
              </a:prstGeom>
            </p:spPr>
          </p:pic>
          <p:sp>
            <p:nvSpPr>
              <p:cNvPr id="8" name="文字方塊 7">
                <a:extLst>
                  <a:ext uri="{FF2B5EF4-FFF2-40B4-BE49-F238E27FC236}">
                    <a16:creationId xmlns:a16="http://schemas.microsoft.com/office/drawing/2014/main" id="{949DB34F-8889-06E0-4E50-4356168172D1}"/>
                  </a:ext>
                </a:extLst>
              </p:cNvPr>
              <p:cNvSpPr txBox="1"/>
              <p:nvPr/>
            </p:nvSpPr>
            <p:spPr>
              <a:xfrm>
                <a:off x="3719797" y="2405743"/>
                <a:ext cx="598715" cy="761218"/>
              </a:xfrm>
              <a:prstGeom prst="rect">
                <a:avLst/>
              </a:prstGeom>
              <a:noFill/>
            </p:spPr>
            <p:txBody>
              <a:bodyPr wrap="square" rtlCol="0">
                <a:spAutoFit/>
              </a:bodyPr>
              <a:lstStyle/>
              <a:p>
                <a:pPr algn="ctr"/>
                <a:r>
                  <a:rPr kumimoji="1" lang="en-US" altLang="zh-TW" b="1" dirty="0"/>
                  <a:t>B</a:t>
                </a:r>
                <a:endParaRPr kumimoji="1" lang="zh-TW" altLang="en-US" b="1" dirty="0"/>
              </a:p>
            </p:txBody>
          </p:sp>
          <p:pic>
            <p:nvPicPr>
              <p:cNvPr id="9" name="圖片 8">
                <a:extLst>
                  <a:ext uri="{FF2B5EF4-FFF2-40B4-BE49-F238E27FC236}">
                    <a16:creationId xmlns:a16="http://schemas.microsoft.com/office/drawing/2014/main" id="{93735951-C87B-AD8D-32FC-25AF4C0F0730}"/>
                  </a:ext>
                </a:extLst>
              </p:cNvPr>
              <p:cNvPicPr>
                <a:picLocks noChangeAspect="1"/>
              </p:cNvPicPr>
              <p:nvPr/>
            </p:nvPicPr>
            <p:blipFill>
              <a:blip r:embed="rId2"/>
              <a:stretch>
                <a:fillRect/>
              </a:stretch>
            </p:blipFill>
            <p:spPr>
              <a:xfrm>
                <a:off x="5046319" y="2250613"/>
                <a:ext cx="1049681" cy="2103664"/>
              </a:xfrm>
              <a:prstGeom prst="rect">
                <a:avLst/>
              </a:prstGeom>
            </p:spPr>
          </p:pic>
          <p:sp>
            <p:nvSpPr>
              <p:cNvPr id="10" name="文字方塊 9">
                <a:extLst>
                  <a:ext uri="{FF2B5EF4-FFF2-40B4-BE49-F238E27FC236}">
                    <a16:creationId xmlns:a16="http://schemas.microsoft.com/office/drawing/2014/main" id="{CA769727-1AC8-0103-5F4D-C58AD24B07C1}"/>
                  </a:ext>
                </a:extLst>
              </p:cNvPr>
              <p:cNvSpPr txBox="1"/>
              <p:nvPr/>
            </p:nvSpPr>
            <p:spPr>
              <a:xfrm>
                <a:off x="5271802" y="2405743"/>
                <a:ext cx="598715" cy="761218"/>
              </a:xfrm>
              <a:prstGeom prst="rect">
                <a:avLst/>
              </a:prstGeom>
              <a:noFill/>
            </p:spPr>
            <p:txBody>
              <a:bodyPr wrap="square" rtlCol="0">
                <a:spAutoFit/>
              </a:bodyPr>
              <a:lstStyle/>
              <a:p>
                <a:pPr algn="ctr"/>
                <a:r>
                  <a:rPr kumimoji="1" lang="en-US" altLang="zh-TW" b="1" dirty="0"/>
                  <a:t>C</a:t>
                </a:r>
                <a:endParaRPr kumimoji="1" lang="zh-TW" altLang="en-US" b="1" dirty="0"/>
              </a:p>
            </p:txBody>
          </p:sp>
        </p:grpSp>
        <p:sp>
          <p:nvSpPr>
            <p:cNvPr id="12" name="文字方塊 11">
              <a:extLst>
                <a:ext uri="{FF2B5EF4-FFF2-40B4-BE49-F238E27FC236}">
                  <a16:creationId xmlns:a16="http://schemas.microsoft.com/office/drawing/2014/main" id="{EB7F7CBD-9B49-691A-27D8-616B2B3C5FD5}"/>
                </a:ext>
              </a:extLst>
            </p:cNvPr>
            <p:cNvSpPr txBox="1"/>
            <p:nvPr/>
          </p:nvSpPr>
          <p:spPr>
            <a:xfrm>
              <a:off x="1259150" y="3208716"/>
              <a:ext cx="872300" cy="413876"/>
            </a:xfrm>
            <a:prstGeom prst="rect">
              <a:avLst/>
            </a:prstGeom>
            <a:noFill/>
          </p:spPr>
          <p:txBody>
            <a:bodyPr wrap="none" rtlCol="0">
              <a:spAutoFit/>
            </a:bodyPr>
            <a:lstStyle/>
            <a:p>
              <a:r>
                <a:rPr kumimoji="1" lang="en-US" altLang="zh-TW" sz="1200" dirty="0"/>
                <a:t>100</a:t>
              </a:r>
              <a:r>
                <a:rPr kumimoji="1" lang="zh-TW" altLang="en-US" sz="1200" dirty="0"/>
                <a:t>元</a:t>
              </a:r>
            </a:p>
          </p:txBody>
        </p:sp>
        <p:sp>
          <p:nvSpPr>
            <p:cNvPr id="13" name="文字方塊 12">
              <a:extLst>
                <a:ext uri="{FF2B5EF4-FFF2-40B4-BE49-F238E27FC236}">
                  <a16:creationId xmlns:a16="http://schemas.microsoft.com/office/drawing/2014/main" id="{3689B6C6-B8B6-FC78-0D5D-9F5666930C63}"/>
                </a:ext>
              </a:extLst>
            </p:cNvPr>
            <p:cNvSpPr txBox="1"/>
            <p:nvPr/>
          </p:nvSpPr>
          <p:spPr>
            <a:xfrm>
              <a:off x="2465162" y="3208716"/>
              <a:ext cx="872300" cy="413876"/>
            </a:xfrm>
            <a:prstGeom prst="rect">
              <a:avLst/>
            </a:prstGeom>
            <a:noFill/>
          </p:spPr>
          <p:txBody>
            <a:bodyPr wrap="none" rtlCol="0">
              <a:spAutoFit/>
            </a:bodyPr>
            <a:lstStyle/>
            <a:p>
              <a:r>
                <a:rPr kumimoji="1" lang="en-US" altLang="zh-TW" sz="1200" dirty="0"/>
                <a:t>200</a:t>
              </a:r>
              <a:r>
                <a:rPr kumimoji="1" lang="zh-TW" altLang="en-US" sz="1200" dirty="0"/>
                <a:t>元</a:t>
              </a:r>
            </a:p>
          </p:txBody>
        </p:sp>
        <p:sp>
          <p:nvSpPr>
            <p:cNvPr id="14" name="文字方塊 13">
              <a:extLst>
                <a:ext uri="{FF2B5EF4-FFF2-40B4-BE49-F238E27FC236}">
                  <a16:creationId xmlns:a16="http://schemas.microsoft.com/office/drawing/2014/main" id="{75064EE7-2DE6-0B19-D2DC-C45CABCF6265}"/>
                </a:ext>
              </a:extLst>
            </p:cNvPr>
            <p:cNvSpPr txBox="1"/>
            <p:nvPr/>
          </p:nvSpPr>
          <p:spPr>
            <a:xfrm>
              <a:off x="3671174" y="3208716"/>
              <a:ext cx="872300" cy="413876"/>
            </a:xfrm>
            <a:prstGeom prst="rect">
              <a:avLst/>
            </a:prstGeom>
            <a:noFill/>
          </p:spPr>
          <p:txBody>
            <a:bodyPr wrap="none" rtlCol="0">
              <a:spAutoFit/>
            </a:bodyPr>
            <a:lstStyle/>
            <a:p>
              <a:r>
                <a:rPr kumimoji="1" lang="en-US" altLang="zh-TW" sz="1200" dirty="0"/>
                <a:t>300</a:t>
              </a:r>
              <a:r>
                <a:rPr kumimoji="1" lang="zh-TW" altLang="en-US" sz="1200" dirty="0"/>
                <a:t>元</a:t>
              </a:r>
            </a:p>
          </p:txBody>
        </p:sp>
      </p:grpSp>
      <p:pic>
        <p:nvPicPr>
          <p:cNvPr id="18" name="圖片 17">
            <a:extLst>
              <a:ext uri="{FF2B5EF4-FFF2-40B4-BE49-F238E27FC236}">
                <a16:creationId xmlns:a16="http://schemas.microsoft.com/office/drawing/2014/main" id="{38A6350B-7111-2845-6AFC-D6F4D8A86658}"/>
              </a:ext>
            </a:extLst>
          </p:cNvPr>
          <p:cNvPicPr>
            <a:picLocks noChangeAspect="1"/>
          </p:cNvPicPr>
          <p:nvPr/>
        </p:nvPicPr>
        <p:blipFill>
          <a:blip r:embed="rId3"/>
          <a:stretch>
            <a:fillRect/>
          </a:stretch>
        </p:blipFill>
        <p:spPr>
          <a:xfrm>
            <a:off x="3170420" y="1050065"/>
            <a:ext cx="2135414" cy="1573264"/>
          </a:xfrm>
          <a:prstGeom prst="rect">
            <a:avLst/>
          </a:prstGeom>
        </p:spPr>
      </p:pic>
      <p:sp>
        <p:nvSpPr>
          <p:cNvPr id="19" name="文字方塊 18">
            <a:extLst>
              <a:ext uri="{FF2B5EF4-FFF2-40B4-BE49-F238E27FC236}">
                <a16:creationId xmlns:a16="http://schemas.microsoft.com/office/drawing/2014/main" id="{1CE3991F-C9EB-534D-A689-290B127FE3C9}"/>
              </a:ext>
            </a:extLst>
          </p:cNvPr>
          <p:cNvSpPr txBox="1"/>
          <p:nvPr/>
        </p:nvSpPr>
        <p:spPr>
          <a:xfrm>
            <a:off x="3187198" y="2569988"/>
            <a:ext cx="2101857" cy="400110"/>
          </a:xfrm>
          <a:prstGeom prst="rect">
            <a:avLst/>
          </a:prstGeom>
          <a:noFill/>
        </p:spPr>
        <p:txBody>
          <a:bodyPr wrap="none" rtlCol="0">
            <a:spAutoFit/>
          </a:bodyPr>
          <a:lstStyle/>
          <a:p>
            <a:pPr algn="ctr"/>
            <a:r>
              <a:rPr kumimoji="1" lang="zh-TW" altLang="en-US" sz="2000" dirty="0">
                <a:latin typeface="Microsoft JhengHei" panose="020B0604030504040204" pitchFamily="34" charset="-120"/>
                <a:ea typeface="Microsoft JhengHei" panose="020B0604030504040204" pitchFamily="34" charset="-120"/>
              </a:rPr>
              <a:t>銀行資金</a:t>
            </a:r>
            <a:r>
              <a:rPr kumimoji="1" lang="en-US" altLang="zh-TW" sz="2000" dirty="0">
                <a:latin typeface="Microsoft JhengHei" panose="020B0604030504040204" pitchFamily="34" charset="-120"/>
                <a:ea typeface="Microsoft JhengHei" panose="020B0604030504040204" pitchFamily="34" charset="-120"/>
              </a:rPr>
              <a:t>: 600</a:t>
            </a:r>
            <a:r>
              <a:rPr kumimoji="1" lang="zh-TW" altLang="en-US" sz="2000" dirty="0">
                <a:latin typeface="Microsoft JhengHei" panose="020B0604030504040204" pitchFamily="34" charset="-120"/>
                <a:ea typeface="Microsoft JhengHei" panose="020B0604030504040204" pitchFamily="34" charset="-120"/>
              </a:rPr>
              <a:t>元</a:t>
            </a:r>
          </a:p>
        </p:txBody>
      </p:sp>
      <p:sp>
        <p:nvSpPr>
          <p:cNvPr id="3" name="向右箭號 2">
            <a:extLst>
              <a:ext uri="{FF2B5EF4-FFF2-40B4-BE49-F238E27FC236}">
                <a16:creationId xmlns:a16="http://schemas.microsoft.com/office/drawing/2014/main" id="{11C0D2B8-10CD-63D4-25A8-D9126F99F41B}"/>
              </a:ext>
            </a:extLst>
          </p:cNvPr>
          <p:cNvSpPr/>
          <p:nvPr/>
        </p:nvSpPr>
        <p:spPr>
          <a:xfrm rot="5400000">
            <a:off x="5113538" y="3312905"/>
            <a:ext cx="2374193" cy="3540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 name="向右箭號 15">
            <a:extLst>
              <a:ext uri="{FF2B5EF4-FFF2-40B4-BE49-F238E27FC236}">
                <a16:creationId xmlns:a16="http://schemas.microsoft.com/office/drawing/2014/main" id="{125CED21-E543-ACA1-FD75-1D9F1EDB2386}"/>
              </a:ext>
            </a:extLst>
          </p:cNvPr>
          <p:cNvSpPr/>
          <p:nvPr/>
        </p:nvSpPr>
        <p:spPr>
          <a:xfrm>
            <a:off x="5392207" y="1746893"/>
            <a:ext cx="4698849" cy="3540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 name="向右箭號 14">
            <a:extLst>
              <a:ext uri="{FF2B5EF4-FFF2-40B4-BE49-F238E27FC236}">
                <a16:creationId xmlns:a16="http://schemas.microsoft.com/office/drawing/2014/main" id="{94DF43E5-B858-3B1A-0A8A-CC591522D8C9}"/>
              </a:ext>
            </a:extLst>
          </p:cNvPr>
          <p:cNvSpPr/>
          <p:nvPr/>
        </p:nvSpPr>
        <p:spPr>
          <a:xfrm>
            <a:off x="2649543" y="1687110"/>
            <a:ext cx="544286" cy="3540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8" name="標題 57">
            <a:extLst>
              <a:ext uri="{FF2B5EF4-FFF2-40B4-BE49-F238E27FC236}">
                <a16:creationId xmlns:a16="http://schemas.microsoft.com/office/drawing/2014/main" id="{B344C882-A237-8713-8974-0A48EF7A0109}"/>
              </a:ext>
            </a:extLst>
          </p:cNvPr>
          <p:cNvSpPr>
            <a:spLocks noGrp="1"/>
          </p:cNvSpPr>
          <p:nvPr>
            <p:ph type="title"/>
          </p:nvPr>
        </p:nvSpPr>
        <p:spPr>
          <a:xfrm>
            <a:off x="835979" y="283021"/>
            <a:ext cx="10515600" cy="678186"/>
          </a:xfrm>
        </p:spPr>
        <p:txBody>
          <a:bodyPr>
            <a:normAutofit fontScale="90000"/>
          </a:bodyPr>
          <a:lstStyle/>
          <a:p>
            <a:r>
              <a:rPr lang="zh-TW" altLang="en-US" dirty="0"/>
              <a:t>範例：成立融資銀行</a:t>
            </a:r>
          </a:p>
        </p:txBody>
      </p:sp>
      <p:pic>
        <p:nvPicPr>
          <p:cNvPr id="2" name="圖片 1">
            <a:extLst>
              <a:ext uri="{FF2B5EF4-FFF2-40B4-BE49-F238E27FC236}">
                <a16:creationId xmlns:a16="http://schemas.microsoft.com/office/drawing/2014/main" id="{E14743B3-D57E-9A6C-BE8B-91793249B92A}"/>
              </a:ext>
            </a:extLst>
          </p:cNvPr>
          <p:cNvPicPr>
            <a:picLocks noChangeAspect="1"/>
          </p:cNvPicPr>
          <p:nvPr/>
        </p:nvPicPr>
        <p:blipFill>
          <a:blip r:embed="rId2"/>
          <a:stretch>
            <a:fillRect/>
          </a:stretch>
        </p:blipFill>
        <p:spPr>
          <a:xfrm>
            <a:off x="5968369" y="4878917"/>
            <a:ext cx="509290" cy="1020667"/>
          </a:xfrm>
          <a:prstGeom prst="rect">
            <a:avLst/>
          </a:prstGeom>
        </p:spPr>
      </p:pic>
      <p:sp>
        <p:nvSpPr>
          <p:cNvPr id="17" name="文字方塊 16">
            <a:extLst>
              <a:ext uri="{FF2B5EF4-FFF2-40B4-BE49-F238E27FC236}">
                <a16:creationId xmlns:a16="http://schemas.microsoft.com/office/drawing/2014/main" id="{4536E236-BA23-4429-0685-B1DC9183E136}"/>
              </a:ext>
            </a:extLst>
          </p:cNvPr>
          <p:cNvSpPr txBox="1"/>
          <p:nvPr/>
        </p:nvSpPr>
        <p:spPr>
          <a:xfrm>
            <a:off x="6077770" y="4954184"/>
            <a:ext cx="290488" cy="369332"/>
          </a:xfrm>
          <a:prstGeom prst="rect">
            <a:avLst/>
          </a:prstGeom>
          <a:noFill/>
        </p:spPr>
        <p:txBody>
          <a:bodyPr wrap="square" rtlCol="0">
            <a:spAutoFit/>
          </a:bodyPr>
          <a:lstStyle/>
          <a:p>
            <a:pPr algn="ctr"/>
            <a:r>
              <a:rPr kumimoji="1" lang="en-US" altLang="zh-TW" b="1" dirty="0"/>
              <a:t>D</a:t>
            </a:r>
            <a:endParaRPr kumimoji="1" lang="zh-TW" altLang="en-US" b="1" dirty="0"/>
          </a:p>
        </p:txBody>
      </p:sp>
      <p:sp>
        <p:nvSpPr>
          <p:cNvPr id="57" name="文字方塊 56">
            <a:extLst>
              <a:ext uri="{FF2B5EF4-FFF2-40B4-BE49-F238E27FC236}">
                <a16:creationId xmlns:a16="http://schemas.microsoft.com/office/drawing/2014/main" id="{FA60FF9F-EF4B-3BEF-7FEE-4C8C288CE854}"/>
              </a:ext>
            </a:extLst>
          </p:cNvPr>
          <p:cNvSpPr txBox="1"/>
          <p:nvPr/>
        </p:nvSpPr>
        <p:spPr>
          <a:xfrm>
            <a:off x="5756224" y="5990937"/>
            <a:ext cx="923651" cy="276999"/>
          </a:xfrm>
          <a:prstGeom prst="rect">
            <a:avLst/>
          </a:prstGeom>
          <a:noFill/>
        </p:spPr>
        <p:txBody>
          <a:bodyPr wrap="none" rtlCol="0">
            <a:spAutoFit/>
          </a:bodyPr>
          <a:lstStyle/>
          <a:p>
            <a:pPr algn="ctr"/>
            <a:r>
              <a:rPr kumimoji="1" lang="zh-TW" altLang="en-US" sz="1200" dirty="0">
                <a:solidFill>
                  <a:srgbClr val="FF0000"/>
                </a:solidFill>
              </a:rPr>
              <a:t>借貸 </a:t>
            </a:r>
            <a:r>
              <a:rPr kumimoji="1" lang="en-US" altLang="zh-TW" sz="1200" dirty="0">
                <a:solidFill>
                  <a:srgbClr val="FF0000"/>
                </a:solidFill>
              </a:rPr>
              <a:t>600</a:t>
            </a:r>
            <a:r>
              <a:rPr kumimoji="1" lang="zh-TW" altLang="en-US" sz="1200" dirty="0">
                <a:solidFill>
                  <a:srgbClr val="FF0000"/>
                </a:solidFill>
              </a:rPr>
              <a:t>元</a:t>
            </a:r>
            <a:endParaRPr kumimoji="1" lang="en-US" altLang="zh-TW" sz="1200" dirty="0">
              <a:solidFill>
                <a:srgbClr val="FF0000"/>
              </a:solidFill>
            </a:endParaRPr>
          </a:p>
        </p:txBody>
      </p:sp>
      <p:sp>
        <p:nvSpPr>
          <p:cNvPr id="62" name="向右箭號 61">
            <a:extLst>
              <a:ext uri="{FF2B5EF4-FFF2-40B4-BE49-F238E27FC236}">
                <a16:creationId xmlns:a16="http://schemas.microsoft.com/office/drawing/2014/main" id="{8F1CBBB9-3ADF-08E0-B461-953FD1E268D0}"/>
              </a:ext>
            </a:extLst>
          </p:cNvPr>
          <p:cNvSpPr/>
          <p:nvPr/>
        </p:nvSpPr>
        <p:spPr>
          <a:xfrm>
            <a:off x="6742036" y="5212225"/>
            <a:ext cx="2004074" cy="3540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4" name="文字方塊 63">
            <a:extLst>
              <a:ext uri="{FF2B5EF4-FFF2-40B4-BE49-F238E27FC236}">
                <a16:creationId xmlns:a16="http://schemas.microsoft.com/office/drawing/2014/main" id="{28711EC3-22E0-D49F-9303-F576516741B8}"/>
              </a:ext>
            </a:extLst>
          </p:cNvPr>
          <p:cNvSpPr txBox="1"/>
          <p:nvPr/>
        </p:nvSpPr>
        <p:spPr>
          <a:xfrm>
            <a:off x="6604613" y="4922461"/>
            <a:ext cx="2192359" cy="923330"/>
          </a:xfrm>
          <a:prstGeom prst="rect">
            <a:avLst/>
          </a:prstGeom>
          <a:noFill/>
        </p:spPr>
        <p:txBody>
          <a:bodyPr wrap="square">
            <a:spAutoFit/>
          </a:bodyPr>
          <a:lstStyle/>
          <a:p>
            <a:pPr algn="ctr"/>
            <a:r>
              <a:rPr kumimoji="1" lang="zh-TW" altLang="en-US" sz="1800" dirty="0">
                <a:solidFill>
                  <a:srgbClr val="FF0000"/>
                </a:solidFill>
              </a:rPr>
              <a:t>每</a:t>
            </a:r>
            <a:r>
              <a:rPr kumimoji="1" lang="en-US" altLang="zh-TW" sz="1800" dirty="0">
                <a:solidFill>
                  <a:srgbClr val="FF0000"/>
                </a:solidFill>
              </a:rPr>
              <a:t>1</a:t>
            </a:r>
            <a:r>
              <a:rPr kumimoji="1" lang="zh-TW" altLang="en-US" sz="1800" dirty="0">
                <a:solidFill>
                  <a:srgbClr val="FF0000"/>
                </a:solidFill>
              </a:rPr>
              <a:t>小時 </a:t>
            </a:r>
            <a:r>
              <a:rPr kumimoji="1" lang="en-US" altLang="zh-TW" sz="1800" dirty="0">
                <a:solidFill>
                  <a:srgbClr val="FF0000"/>
                </a:solidFill>
              </a:rPr>
              <a:t>10%</a:t>
            </a:r>
            <a:r>
              <a:rPr kumimoji="1" lang="zh-TW" altLang="en-US" sz="1800" dirty="0">
                <a:solidFill>
                  <a:srgbClr val="FF0000"/>
                </a:solidFill>
              </a:rPr>
              <a:t>利息</a:t>
            </a:r>
            <a:endParaRPr kumimoji="1" lang="en-US" altLang="zh-TW" sz="1800" dirty="0">
              <a:solidFill>
                <a:srgbClr val="FF0000"/>
              </a:solidFill>
            </a:endParaRPr>
          </a:p>
          <a:p>
            <a:pPr algn="ctr"/>
            <a:endParaRPr kumimoji="1" lang="en-US" altLang="zh-TW" dirty="0">
              <a:solidFill>
                <a:srgbClr val="FF0000"/>
              </a:solidFill>
            </a:endParaRPr>
          </a:p>
          <a:p>
            <a:pPr algn="ctr"/>
            <a:r>
              <a:rPr kumimoji="1" lang="en-US" altLang="zh-TW" sz="1800" dirty="0">
                <a:solidFill>
                  <a:srgbClr val="FF0000"/>
                </a:solidFill>
              </a:rPr>
              <a:t>(</a:t>
            </a:r>
            <a:r>
              <a:rPr kumimoji="1" lang="en-US" altLang="zh-TW" dirty="0">
                <a:solidFill>
                  <a:srgbClr val="FF0000"/>
                </a:solidFill>
              </a:rPr>
              <a:t>10</a:t>
            </a:r>
            <a:r>
              <a:rPr kumimoji="1" lang="zh-TW" altLang="en-US" sz="1800" dirty="0">
                <a:solidFill>
                  <a:srgbClr val="FF0000"/>
                </a:solidFill>
              </a:rPr>
              <a:t>小時後</a:t>
            </a:r>
            <a:r>
              <a:rPr kumimoji="1" lang="en-US" altLang="zh-TW" sz="1800" dirty="0">
                <a:solidFill>
                  <a:srgbClr val="FF0000"/>
                </a:solidFill>
              </a:rPr>
              <a:t>)</a:t>
            </a:r>
            <a:endParaRPr kumimoji="1" lang="zh-TW" altLang="en-US" sz="1800" dirty="0">
              <a:solidFill>
                <a:srgbClr val="FF0000"/>
              </a:solidFill>
            </a:endParaRPr>
          </a:p>
        </p:txBody>
      </p:sp>
      <p:sp>
        <p:nvSpPr>
          <p:cNvPr id="65" name="文字方塊 64">
            <a:extLst>
              <a:ext uri="{FF2B5EF4-FFF2-40B4-BE49-F238E27FC236}">
                <a16:creationId xmlns:a16="http://schemas.microsoft.com/office/drawing/2014/main" id="{E258A0A6-F9AD-25FA-EDA2-AA33E7DD5126}"/>
              </a:ext>
            </a:extLst>
          </p:cNvPr>
          <p:cNvSpPr txBox="1"/>
          <p:nvPr/>
        </p:nvSpPr>
        <p:spPr>
          <a:xfrm>
            <a:off x="8934395" y="5222386"/>
            <a:ext cx="1483099" cy="369332"/>
          </a:xfrm>
          <a:prstGeom prst="rect">
            <a:avLst/>
          </a:prstGeom>
          <a:noFill/>
        </p:spPr>
        <p:txBody>
          <a:bodyPr wrap="none" rtlCol="0">
            <a:spAutoFit/>
          </a:bodyPr>
          <a:lstStyle/>
          <a:p>
            <a:pPr algn="ctr"/>
            <a:r>
              <a:rPr kumimoji="1" lang="zh-TW" altLang="en-US" dirty="0">
                <a:solidFill>
                  <a:srgbClr val="FF0000"/>
                </a:solidFill>
              </a:rPr>
              <a:t>還款 </a:t>
            </a:r>
            <a:r>
              <a:rPr kumimoji="1" lang="en-US" altLang="zh-TW" dirty="0">
                <a:solidFill>
                  <a:srgbClr val="FF0000"/>
                </a:solidFill>
              </a:rPr>
              <a:t>1,200</a:t>
            </a:r>
            <a:r>
              <a:rPr kumimoji="1" lang="zh-TW" altLang="en-US" dirty="0">
                <a:solidFill>
                  <a:srgbClr val="FF0000"/>
                </a:solidFill>
              </a:rPr>
              <a:t>元</a:t>
            </a:r>
            <a:endParaRPr kumimoji="1" lang="en-US" altLang="zh-TW" dirty="0">
              <a:solidFill>
                <a:srgbClr val="FF0000"/>
              </a:solidFill>
            </a:endParaRPr>
          </a:p>
        </p:txBody>
      </p:sp>
      <p:sp>
        <p:nvSpPr>
          <p:cNvPr id="66" name="向右箭號 65">
            <a:extLst>
              <a:ext uri="{FF2B5EF4-FFF2-40B4-BE49-F238E27FC236}">
                <a16:creationId xmlns:a16="http://schemas.microsoft.com/office/drawing/2014/main" id="{D990C814-8AD5-AF7C-9A08-5E5E7EC61032}"/>
              </a:ext>
            </a:extLst>
          </p:cNvPr>
          <p:cNvSpPr/>
          <p:nvPr/>
        </p:nvSpPr>
        <p:spPr>
          <a:xfrm rot="16200000">
            <a:off x="8070489" y="3312905"/>
            <a:ext cx="2374193" cy="3540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7" name="文字方塊 66">
            <a:extLst>
              <a:ext uri="{FF2B5EF4-FFF2-40B4-BE49-F238E27FC236}">
                <a16:creationId xmlns:a16="http://schemas.microsoft.com/office/drawing/2014/main" id="{8045D158-8FD2-707D-2D6B-C76ABB620E7E}"/>
              </a:ext>
            </a:extLst>
          </p:cNvPr>
          <p:cNvSpPr txBox="1"/>
          <p:nvPr/>
        </p:nvSpPr>
        <p:spPr>
          <a:xfrm>
            <a:off x="10318650" y="1635614"/>
            <a:ext cx="1334019" cy="707886"/>
          </a:xfrm>
          <a:prstGeom prst="rect">
            <a:avLst/>
          </a:prstGeom>
          <a:noFill/>
        </p:spPr>
        <p:txBody>
          <a:bodyPr wrap="none" rtlCol="0">
            <a:spAutoFit/>
          </a:bodyPr>
          <a:lstStyle/>
          <a:p>
            <a:pPr algn="ctr"/>
            <a:r>
              <a:rPr kumimoji="1" lang="zh-TW" altLang="en-US" sz="2000" dirty="0">
                <a:latin typeface="Microsoft JhengHei" panose="020B0604030504040204" pitchFamily="34" charset="-120"/>
                <a:ea typeface="Microsoft JhengHei" panose="020B0604030504040204" pitchFamily="34" charset="-120"/>
              </a:rPr>
              <a:t>銀行資金</a:t>
            </a:r>
            <a:r>
              <a:rPr kumimoji="1" lang="en-US" altLang="zh-TW" sz="2000" dirty="0">
                <a:latin typeface="Microsoft JhengHei" panose="020B0604030504040204" pitchFamily="34" charset="-120"/>
                <a:ea typeface="Microsoft JhengHei" panose="020B0604030504040204" pitchFamily="34" charset="-120"/>
              </a:rPr>
              <a:t>: </a:t>
            </a:r>
          </a:p>
          <a:p>
            <a:pPr algn="ctr"/>
            <a:r>
              <a:rPr kumimoji="1" lang="en-US" altLang="zh-TW" sz="2000" dirty="0">
                <a:latin typeface="Microsoft JhengHei" panose="020B0604030504040204" pitchFamily="34" charset="-120"/>
                <a:ea typeface="Microsoft JhengHei" panose="020B0604030504040204" pitchFamily="34" charset="-120"/>
              </a:rPr>
              <a:t>1,200</a:t>
            </a:r>
            <a:r>
              <a:rPr kumimoji="1" lang="zh-TW" altLang="en-US" sz="2000" dirty="0">
                <a:latin typeface="Microsoft JhengHei" panose="020B0604030504040204" pitchFamily="34" charset="-120"/>
                <a:ea typeface="Microsoft JhengHei" panose="020B0604030504040204" pitchFamily="34" charset="-120"/>
              </a:rPr>
              <a:t>元</a:t>
            </a:r>
          </a:p>
        </p:txBody>
      </p:sp>
    </p:spTree>
    <p:extLst>
      <p:ext uri="{BB962C8B-B14F-4D97-AF65-F5344CB8AC3E}">
        <p14:creationId xmlns:p14="http://schemas.microsoft.com/office/powerpoint/2010/main" val="9259965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8266A3-3753-4419-4B98-39EDD2ACD78E}"/>
              </a:ext>
            </a:extLst>
          </p:cNvPr>
          <p:cNvSpPr>
            <a:spLocks noGrp="1"/>
          </p:cNvSpPr>
          <p:nvPr>
            <p:ph type="title"/>
          </p:nvPr>
        </p:nvSpPr>
        <p:spPr/>
        <p:txBody>
          <a:bodyPr/>
          <a:lstStyle/>
          <a:p>
            <a:r>
              <a:rPr kumimoji="1" lang="zh-TW" altLang="en-US" b="1" dirty="0"/>
              <a:t>要成立公司者，找助教登記</a:t>
            </a:r>
          </a:p>
        </p:txBody>
      </p:sp>
      <p:sp>
        <p:nvSpPr>
          <p:cNvPr id="3" name="內容版面配置區 2">
            <a:extLst>
              <a:ext uri="{FF2B5EF4-FFF2-40B4-BE49-F238E27FC236}">
                <a16:creationId xmlns:a16="http://schemas.microsoft.com/office/drawing/2014/main" id="{402C8C45-C9EC-9310-1E5E-51B78757DE68}"/>
              </a:ext>
            </a:extLst>
          </p:cNvPr>
          <p:cNvSpPr>
            <a:spLocks noGrp="1"/>
          </p:cNvSpPr>
          <p:nvPr>
            <p:ph idx="1"/>
          </p:nvPr>
        </p:nvSpPr>
        <p:spPr/>
        <p:txBody>
          <a:bodyPr>
            <a:normAutofit/>
          </a:bodyPr>
          <a:lstStyle/>
          <a:p>
            <a:pPr marL="514350" indent="-514350">
              <a:buFont typeface="+mj-lt"/>
              <a:buAutoNum type="arabicPeriod"/>
            </a:pPr>
            <a:r>
              <a:rPr kumimoji="1" lang="zh-TW" altLang="en-US" sz="3200" dirty="0"/>
              <a:t>學號、姓名、每人的投入資金、營業類別 </a:t>
            </a:r>
            <a:r>
              <a:rPr kumimoji="1" lang="en-US" altLang="zh-TW" sz="3200" dirty="0"/>
              <a:t>(</a:t>
            </a:r>
            <a:r>
              <a:rPr kumimoji="1" lang="zh-TW" altLang="en-US" sz="3200" dirty="0"/>
              <a:t>自訂</a:t>
            </a:r>
            <a:r>
              <a:rPr kumimoji="1" lang="en-US" altLang="zh-TW" sz="3200" dirty="0"/>
              <a:t>)</a:t>
            </a:r>
          </a:p>
          <a:p>
            <a:pPr marL="514350" indent="-514350">
              <a:buFont typeface="+mj-lt"/>
              <a:buAutoNum type="arabicPeriod"/>
            </a:pPr>
            <a:r>
              <a:rPr kumimoji="1" lang="zh-TW" altLang="en-US" sz="3200" dirty="0"/>
              <a:t>公司成立後 （完成資金匯入公司戶頭之後）</a:t>
            </a:r>
            <a:endParaRPr kumimoji="1" lang="en-US" altLang="zh-TW" sz="3200" dirty="0"/>
          </a:p>
          <a:p>
            <a:pPr marL="514350" indent="-514350">
              <a:buFont typeface="+mj-lt"/>
              <a:buAutoNum type="arabicPeriod"/>
            </a:pPr>
            <a:r>
              <a:rPr kumimoji="1" lang="zh-TW" altLang="en-US" sz="3200" dirty="0"/>
              <a:t>發給公司所有股東一個 </a:t>
            </a:r>
            <a:r>
              <a:rPr kumimoji="1" lang="en-US" altLang="zh-TW" sz="3200" dirty="0"/>
              <a:t>Token</a:t>
            </a:r>
          </a:p>
          <a:p>
            <a:pPr marL="514350" indent="-514350">
              <a:buFont typeface="+mj-lt"/>
              <a:buAutoNum type="arabicPeriod"/>
            </a:pPr>
            <a:r>
              <a:rPr kumimoji="1" lang="zh-TW" altLang="en-US" sz="3200" dirty="0">
                <a:solidFill>
                  <a:srgbClr val="FF0000"/>
                </a:solidFill>
                <a:highlight>
                  <a:srgbClr val="FFFF00"/>
                </a:highlight>
              </a:rPr>
              <a:t>股東最多六人</a:t>
            </a:r>
            <a:endParaRPr kumimoji="1" lang="en-US" altLang="zh-TW" sz="3200" dirty="0">
              <a:solidFill>
                <a:srgbClr val="FF0000"/>
              </a:solidFill>
            </a:endParaRPr>
          </a:p>
          <a:p>
            <a:pPr marL="514350" indent="-514350">
              <a:buFont typeface="+mj-lt"/>
              <a:buAutoNum type="arabicPeriod"/>
            </a:pPr>
            <a:r>
              <a:rPr kumimoji="1" lang="zh-TW" altLang="en-US" sz="3200" dirty="0"/>
              <a:t>公司</a:t>
            </a:r>
            <a:r>
              <a:rPr kumimoji="1" lang="en-US" altLang="zh-TW" sz="3200" dirty="0"/>
              <a:t>ID:</a:t>
            </a:r>
            <a:r>
              <a:rPr kumimoji="1" lang="zh-TW" altLang="en-US" sz="3200" dirty="0"/>
              <a:t> </a:t>
            </a:r>
            <a:r>
              <a:rPr kumimoji="1" lang="en-US" altLang="zh-TW" sz="3200" dirty="0"/>
              <a:t>c001, c002</a:t>
            </a:r>
            <a:r>
              <a:rPr kumimoji="1" lang="en-US" altLang="zh-TW" sz="3200"/>
              <a:t>, c003…… </a:t>
            </a:r>
            <a:endParaRPr kumimoji="1" lang="en-US" altLang="zh-TW" sz="3200" dirty="0"/>
          </a:p>
          <a:p>
            <a:pPr marL="514350" indent="-514350">
              <a:buFont typeface="+mj-lt"/>
              <a:buAutoNum type="arabicPeriod"/>
            </a:pPr>
            <a:r>
              <a:rPr kumimoji="1" lang="zh-TW" altLang="en-US" sz="3200" dirty="0"/>
              <a:t>公司中文名稱自訂</a:t>
            </a:r>
            <a:endParaRPr kumimoji="1" lang="en-US" altLang="zh-TW" sz="3200" dirty="0"/>
          </a:p>
        </p:txBody>
      </p:sp>
    </p:spTree>
    <p:extLst>
      <p:ext uri="{BB962C8B-B14F-4D97-AF65-F5344CB8AC3E}">
        <p14:creationId xmlns:p14="http://schemas.microsoft.com/office/powerpoint/2010/main" val="365387043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TotalTime>
  <Words>629</Words>
  <Application>Microsoft Office PowerPoint</Application>
  <PresentationFormat>寬螢幕</PresentationFormat>
  <Paragraphs>88</Paragraphs>
  <Slides>11</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11</vt:i4>
      </vt:variant>
    </vt:vector>
  </HeadingPairs>
  <TitlesOfParts>
    <vt:vector size="18" baseType="lpstr">
      <vt:lpstr>Aptos</vt:lpstr>
      <vt:lpstr>Aptos Display</vt:lpstr>
      <vt:lpstr>Söhne</vt:lpstr>
      <vt:lpstr>Microsoft JhengHei</vt:lpstr>
      <vt:lpstr>Arial</vt:lpstr>
      <vt:lpstr>Arial</vt:lpstr>
      <vt:lpstr>Office 佈景主題</vt:lpstr>
      <vt:lpstr>股市交易平台</vt:lpstr>
      <vt:lpstr>PowerPoint 簡報</vt:lpstr>
      <vt:lpstr>PowerPoint 簡報</vt:lpstr>
      <vt:lpstr>開放登記公司</vt:lpstr>
      <vt:lpstr>範例：成立股市投資銀行</vt:lpstr>
      <vt:lpstr>銀行準備金</vt:lpstr>
      <vt:lpstr>ETF</vt:lpstr>
      <vt:lpstr>ETF</vt:lpstr>
      <vt:lpstr>範例：發行ETF</vt:lpstr>
      <vt:lpstr>範例：成立融資銀行</vt:lpstr>
      <vt:lpstr>要成立公司者，找助教登記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李季青</dc:creator>
  <cp:lastModifiedBy>Chi-Ching Lee</cp:lastModifiedBy>
  <cp:revision>41</cp:revision>
  <dcterms:created xsi:type="dcterms:W3CDTF">2024-03-20T11:15:00Z</dcterms:created>
  <dcterms:modified xsi:type="dcterms:W3CDTF">2024-03-21T14:34:43Z</dcterms:modified>
</cp:coreProperties>
</file>